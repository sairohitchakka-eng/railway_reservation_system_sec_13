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Space Grotesk Bold" panose="020B0604020202020204" charset="0"/>
      <p:regular r:id="rId11"/>
    </p:embeddedFont>
    <p:embeddedFont>
      <p:font typeface="Inter SemiBold" panose="020B0604020202020204" charset="0"/>
      <p:regular r:id="rId12"/>
    </p:embeddedFon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Inter Medium" panose="020B0604020202020204" charset="0"/>
      <p:regular r:id="rId19"/>
    </p:embeddedFont>
    <p:embeddedFont>
      <p:font typeface="Space Grotesk Semi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57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411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working prototype review. Name the team and institution, then state that the presentation will connect the passenger journey to the system evidence and the next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through the passenger's task. Then replace the bracketed context with the intended users and the precise issue addressed by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that every stage has a clear handoff: the passenger knows what changed, what is required, and whether the reservation is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request through the architecture. Name the actual technology stack aloud where the placeholder appears, and distinguish implemented modules from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one booking from start to finish, then replace the evidence fields with the measured test data. Explain how each result was checked against the expected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implemented feature and connect it to a specific passenger pain. Then label sustainability ideas clearly as proposed unless the demo proves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intended passenger benefit concrete. Use the image to anchor the use case, then state the evidence and the current boundary precisely.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only what the prototype demonstrates and what the supplied evidence supports. Name the main limitation, the next test,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B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B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B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4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787400"/>
            <a:ext cx="7746806" cy="5075238"/>
          </a:xfrm>
          <a:prstGeom prst="rect">
            <a:avLst/>
          </a:prstGeom>
          <a:solidFill>
            <a:srgbClr val="0E1013">
              <a:alpha val="7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92173" y="1125220"/>
            <a:ext cx="75944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ACADEMIC PROJECT REVIEW · REVIEW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2173" y="1706166"/>
            <a:ext cx="698482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10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Railway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10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Reservation System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92173" y="4622800"/>
            <a:ext cx="759441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prototype, evidence, and next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2173" y="5296297"/>
            <a:ext cx="75944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[Project team] · [Institution] · [Review date]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75227"/>
            <a:ext cx="67054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PASSENGER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275037"/>
            <a:ext cx="6095848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One booking journey, many points of failure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3380680"/>
            <a:ext cx="609584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passenger needs to find a train, confirm a seat, and complete a booking without losing confidence along the way.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4679652"/>
            <a:ext cx="670543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4 goal: demonstrate the working prototype and what its results show.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09" y="2145010"/>
            <a:ext cx="1898603" cy="336649"/>
          </a:xfrm>
          <a:prstGeom prst="roundRect">
            <a:avLst>
              <a:gd name="adj" fmla="val 7696"/>
            </a:avLst>
          </a:prstGeom>
          <a:solidFill>
            <a:srgbClr val="384705"/>
          </a:solidFill>
          <a:ln/>
        </p:spPr>
      </p:sp>
      <p:sp>
        <p:nvSpPr>
          <p:cNvPr id="8" name="Text 6"/>
          <p:cNvSpPr/>
          <p:nvPr/>
        </p:nvSpPr>
        <p:spPr>
          <a:xfrm>
            <a:off x="7749287" y="2224560"/>
            <a:ext cx="224923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82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INTENDED USERS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19809" y="2574052"/>
            <a:ext cx="426709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[Insert project context]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19809" y="3137118"/>
            <a:ext cx="426709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the specific passenger group and the issue this prototype addresses.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19809" y="4006552"/>
            <a:ext cx="4267093" cy="31651"/>
          </a:xfrm>
          <a:prstGeom prst="roundRect">
            <a:avLst>
              <a:gd name="adj" fmla="val 49998"/>
            </a:avLst>
          </a:prstGeom>
          <a:solidFill>
            <a:srgbClr val="4A525C"/>
          </a:solidFill>
          <a:ln/>
        </p:spPr>
      </p:sp>
      <p:sp>
        <p:nvSpPr>
          <p:cNvPr id="12" name="Text 10"/>
          <p:cNvSpPr/>
          <p:nvPr/>
        </p:nvSpPr>
        <p:spPr>
          <a:xfrm>
            <a:off x="7619809" y="4287937"/>
            <a:ext cx="426709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this context project-specific. Do not imply a broader deployment than the prototype supports.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807430" y="6451898"/>
            <a:ext cx="38426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BOOKING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 reservation should move clearly from search to confirmation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22197"/>
            <a:ext cx="1097252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IRCTC’s published e-ticket steps provide an operational reference for the journey shown here, not a claim about this project.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839244"/>
            <a:ext cx="2647884" cy="3409156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78" y="3093244"/>
            <a:ext cx="866555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63578" y="3489464"/>
            <a:ext cx="213989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3578" y="3949799"/>
            <a:ext cx="239389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and travel date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384465" y="2839244"/>
            <a:ext cx="2647884" cy="3409156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8459" y="3093244"/>
            <a:ext cx="91407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3638459" y="3489464"/>
            <a:ext cx="213989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38459" y="3949799"/>
            <a:ext cx="213989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Trains, classes, availability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59346" y="2839244"/>
            <a:ext cx="2647884" cy="3409156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3340" y="3093244"/>
            <a:ext cx="917155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413340" y="3489464"/>
            <a:ext cx="213989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13340" y="3949799"/>
            <a:ext cx="213989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Passenger details and fare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934226" y="2839244"/>
            <a:ext cx="2647884" cy="3409156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8220" y="3093244"/>
            <a:ext cx="92429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188220" y="3489464"/>
            <a:ext cx="213989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88220" y="3949799"/>
            <a:ext cx="213989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and booking status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806339" y="6451898"/>
            <a:ext cx="38535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386070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SYSTEM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3251119" cy="2275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prototype connects passenger actions to reservation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3387546"/>
            <a:ext cx="3251119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request should remain traceable from the interface to the confirmation returned to the passenger.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4830663"/>
            <a:ext cx="3183949" cy="336649"/>
          </a:xfrm>
          <a:prstGeom prst="roundRect">
            <a:avLst>
              <a:gd name="adj" fmla="val 7696"/>
            </a:avLst>
          </a:prstGeom>
          <a:noFill/>
          <a:ln w="6350">
            <a:solidFill>
              <a:srgbClr val="C8F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9062" y="4910213"/>
            <a:ext cx="353458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82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IMPLEMENTED MODULES ONLY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585" y="5364559"/>
            <a:ext cx="325111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the stack field with the technologies used. Mark planned modules as future work.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9585" y="6378893"/>
            <a:ext cx="325111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[Insert stack]</a:t>
            </a:r>
            <a:endParaRPr lang="en-US" sz="2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882" y="0"/>
            <a:ext cx="7450447" cy="41909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02370" y="6451898"/>
            <a:ext cx="38932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TEST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Test evidence shows what works—and what still needs work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19498"/>
          <a:ext cx="10972526" cy="914400"/>
        </p:xfrm>
        <a:graphic>
          <a:graphicData uri="http://schemas.openxmlformats.org/drawingml/2006/table">
            <a:tbl>
              <a:tblPr/>
              <a:tblGrid>
                <a:gridCol w="4059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0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92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92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92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OBSERVATION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End-to-end booking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82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[PASS / FAIL]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[Observed error or timing]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 cases run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[Passed / total]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[Expected output comparison]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Outstanding issue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82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[OPEN]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[What still needs work]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4093865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every bracketed field with supplied test data. Do not claim unprovided metrics.</a:t>
            </a:r>
            <a:endParaRPr lang="en-US" sz="1250" dirty="0"/>
          </a:p>
        </p:txBody>
      </p:sp>
      <p:sp>
        <p:nvSpPr>
          <p:cNvPr id="4" name="Text 3"/>
          <p:cNvSpPr/>
          <p:nvPr/>
        </p:nvSpPr>
        <p:spPr>
          <a:xfrm>
            <a:off x="11809712" y="6451898"/>
            <a:ext cx="3819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621272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INNOVATION &amp; SUSTAINABILITY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5603140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Innovation and sustainability should solve a real passenger pain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477314"/>
            <a:ext cx="560314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the feature that is genuinely implemented. Its value is the passenger problem it removes, not the novelty of the technology.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5823347"/>
            <a:ext cx="56031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Additional sustainability ideas remain proposed until the prototype demonstrates them.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74606" y="0"/>
            <a:ext cx="2532297" cy="685800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7" name="Shape 5"/>
          <p:cNvSpPr/>
          <p:nvPr/>
        </p:nvSpPr>
        <p:spPr>
          <a:xfrm>
            <a:off x="7228600" y="228600"/>
            <a:ext cx="1631512" cy="336649"/>
          </a:xfrm>
          <a:prstGeom prst="roundRect">
            <a:avLst>
              <a:gd name="adj" fmla="val 7696"/>
            </a:avLst>
          </a:prstGeom>
          <a:solidFill>
            <a:srgbClr val="384705"/>
          </a:solidFill>
          <a:ln/>
        </p:spPr>
      </p:sp>
      <p:sp>
        <p:nvSpPr>
          <p:cNvPr id="8" name="Text 6"/>
          <p:cNvSpPr/>
          <p:nvPr/>
        </p:nvSpPr>
        <p:spPr>
          <a:xfrm>
            <a:off x="7358077" y="308150"/>
            <a:ext cx="198214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82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IMPLEMENTED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28600" y="657642"/>
            <a:ext cx="202431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[Specific innovation]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28600" y="1629470"/>
            <a:ext cx="2024310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[Concrete benefit: clearer availability or fewer avoidable booking steps]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659299" y="0"/>
            <a:ext cx="2532396" cy="6858000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38692" y="254000"/>
            <a:ext cx="1284057" cy="336649"/>
          </a:xfrm>
          <a:prstGeom prst="roundRect">
            <a:avLst>
              <a:gd name="adj" fmla="val 7696"/>
            </a:avLst>
          </a:prstGeom>
          <a:noFill/>
          <a:ln w="6350">
            <a:solidFill>
              <a:srgbClr val="C8F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68169" y="333550"/>
            <a:ext cx="1634687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82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PROPOSED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938692" y="683042"/>
            <a:ext cx="197361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[Sustainability idea]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938692" y="1654870"/>
            <a:ext cx="1973610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proposal for future validation, not a current capability.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805942" y="6451898"/>
            <a:ext cx="38575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509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2301" y="617220"/>
            <a:ext cx="822939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PASSENGER IMPACT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962301" y="917030"/>
            <a:ext cx="7619809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Reliable booking can make rail travel easier to access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962301" y="2022673"/>
            <a:ext cx="761980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</a:t>
            </a:r>
            <a:r>
              <a:rPr lang="en-US" sz="20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[specific user or community]</a:t>
            </a:r>
            <a:r>
              <a:rPr lang="en-US" sz="20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clearer availability and fewer uncertain handoffs can reduce friction before travel begins.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962301" y="3423483"/>
            <a:ext cx="761980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clarity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962301" y="3883819"/>
            <a:ext cx="7619809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[Evidence or demo showing what the passenger can understand earlier]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962301" y="4357826"/>
            <a:ext cx="761980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accessibility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962301" y="4818162"/>
            <a:ext cx="7619809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[Evidence or demo showing who can use the flow and how]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962301" y="5292169"/>
            <a:ext cx="761980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boundary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962301" y="5752505"/>
            <a:ext cx="7619809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prototype can support [current capability], but cannot yet support [limitation].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3962301" y="4246066"/>
            <a:ext cx="7619809" cy="12700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13" name="Shape 10"/>
          <p:cNvSpPr/>
          <p:nvPr/>
        </p:nvSpPr>
        <p:spPr>
          <a:xfrm>
            <a:off x="3962301" y="5180409"/>
            <a:ext cx="7619809" cy="12700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14" name="Text 11"/>
          <p:cNvSpPr/>
          <p:nvPr/>
        </p:nvSpPr>
        <p:spPr>
          <a:xfrm>
            <a:off x="11816261" y="6451898"/>
            <a:ext cx="37543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736600"/>
            <a:ext cx="7746806" cy="6113661"/>
          </a:xfrm>
          <a:prstGeom prst="rect">
            <a:avLst/>
          </a:prstGeom>
          <a:solidFill>
            <a:srgbClr val="0E1013">
              <a:alpha val="8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66773" y="1049020"/>
            <a:ext cx="76452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CLOSING TAKEAWAY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773" y="1390253"/>
            <a:ext cx="7035624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84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clearer booking flow is the result to carry forward.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66773" y="3677841"/>
            <a:ext cx="703562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prototype demonstrates </a:t>
            </a: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[capability]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the strongest result is </a:t>
            </a: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[test result]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the next test should validate </a:t>
            </a: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[improvement]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6773" y="4881166"/>
            <a:ext cx="2243577" cy="1322983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7" name="Text 5"/>
          <p:cNvSpPr/>
          <p:nvPr/>
        </p:nvSpPr>
        <p:spPr>
          <a:xfrm>
            <a:off x="1269968" y="5062537"/>
            <a:ext cx="20403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69968" y="5402977"/>
            <a:ext cx="183718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[Demonstrated capability]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62747" y="4881166"/>
            <a:ext cx="2243577" cy="1322983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10" name="Text 8"/>
          <p:cNvSpPr/>
          <p:nvPr/>
        </p:nvSpPr>
        <p:spPr>
          <a:xfrm>
            <a:off x="3665942" y="5062537"/>
            <a:ext cx="20403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65942" y="5402977"/>
            <a:ext cx="183718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[Strongest supplied result]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858721" y="4881166"/>
            <a:ext cx="2243677" cy="1322983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13" name="Text 11"/>
          <p:cNvSpPr/>
          <p:nvPr/>
        </p:nvSpPr>
        <p:spPr>
          <a:xfrm>
            <a:off x="6061916" y="5062537"/>
            <a:ext cx="20404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TEST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61916" y="5402977"/>
            <a:ext cx="183728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[Main limitation to validate]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66773" y="6309320"/>
            <a:ext cx="76452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738</Words>
  <Application>Microsoft Office PowerPoint</Application>
  <PresentationFormat>Widescreen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Space Grotesk Bold</vt:lpstr>
      <vt:lpstr>Arial</vt:lpstr>
      <vt:lpstr>Inter SemiBold</vt:lpstr>
      <vt:lpstr>Inter</vt:lpstr>
      <vt:lpstr>Inter Bold</vt:lpstr>
      <vt:lpstr>Calibri</vt:lpstr>
      <vt:lpstr>Inter Medium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TheoremLogic NumericLogorithm</dc:creator>
  <cp:lastModifiedBy>Sairohit</cp:lastModifiedBy>
  <cp:revision>3</cp:revision>
  <dcterms:created xsi:type="dcterms:W3CDTF">2026-10-08T05:06:09Z</dcterms:created>
  <dcterms:modified xsi:type="dcterms:W3CDTF">2026-10-08T05:08:41Z</dcterms:modified>
</cp:coreProperties>
</file>