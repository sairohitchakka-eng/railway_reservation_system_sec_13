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43" d="100"/>
          <a:sy n="43" d="100"/>
        </p:scale>
        <p:origin x="732" y="3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2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F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10104120" y="0"/>
            <a:ext cx="146304" cy="6858000"/>
          </a:xfrm>
          <a:prstGeom prst="rect">
            <a:avLst/>
          </a:prstGeom>
          <a:solidFill>
            <a:srgbClr val="41B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10469880" y="0"/>
            <a:ext cx="100584" cy="6858000"/>
          </a:xfrm>
          <a:prstGeom prst="rect">
            <a:avLst/>
          </a:prstGeom>
          <a:solidFill>
            <a:srgbClr val="2A8B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10789920" y="0"/>
            <a:ext cx="64008" cy="6858000"/>
          </a:xfrm>
          <a:prstGeom prst="rect">
            <a:avLst/>
          </a:prstGeom>
          <a:solidFill>
            <a:srgbClr val="E848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0" y="6327648"/>
            <a:ext cx="12191695" cy="530352"/>
          </a:xfrm>
          <a:prstGeom prst="rect">
            <a:avLst/>
          </a:prstGeom>
          <a:solidFill>
            <a:srgbClr val="040A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914400" y="6565392"/>
            <a:ext cx="1143000" cy="32004"/>
          </a:xfrm>
          <a:prstGeom prst="rect">
            <a:avLst/>
          </a:prstGeom>
          <a:solidFill>
            <a:srgbClr val="DCE1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3291840" y="6565392"/>
            <a:ext cx="1143000" cy="32004"/>
          </a:xfrm>
          <a:prstGeom prst="rect">
            <a:avLst/>
          </a:prstGeom>
          <a:solidFill>
            <a:srgbClr val="DCE1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5669280" y="6565392"/>
            <a:ext cx="1143000" cy="32004"/>
          </a:xfrm>
          <a:prstGeom prst="rect">
            <a:avLst/>
          </a:prstGeom>
          <a:solidFill>
            <a:srgbClr val="DCE1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8046720" y="6565392"/>
            <a:ext cx="1143000" cy="32004"/>
          </a:xfrm>
          <a:prstGeom prst="rect">
            <a:avLst/>
          </a:prstGeom>
          <a:solidFill>
            <a:srgbClr val="DCE1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10424160" y="6565392"/>
            <a:ext cx="1143000" cy="32004"/>
          </a:xfrm>
          <a:prstGeom prst="rect">
            <a:avLst/>
          </a:prstGeom>
          <a:solidFill>
            <a:srgbClr val="DCE1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94360" y="384048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5F9FC"/>
                </a:solidFill>
              </a:defRPr>
            </a:pPr>
            <a:r>
              <a:t>Smart Traffic Violation &amp; E-Challan Management System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94360" y="1143000"/>
            <a:ext cx="2011680" cy="45720"/>
          </a:xfrm>
          <a:prstGeom prst="rect">
            <a:avLst/>
          </a:prstGeom>
          <a:solidFill>
            <a:srgbClr val="E848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914400" y="1417320"/>
            <a:ext cx="10287000" cy="4343400"/>
          </a:xfrm>
          <a:prstGeom prst="roundRect">
            <a:avLst/>
          </a:prstGeom>
          <a:solidFill>
            <a:srgbClr val="12273C"/>
          </a:solidFill>
          <a:ln w="19050">
            <a:solidFill>
              <a:srgbClr val="304E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417320" y="2057400"/>
            <a:ext cx="93268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700" b="1">
                <a:solidFill>
                  <a:srgbClr val="F5F9FC"/>
                </a:solidFill>
              </a:defRPr>
            </a:pPr>
            <a:r>
              <a:t>AI-powered traffic monitoring,</a:t>
            </a:r>
            <a:br/>
            <a:r>
              <a:t>violation detection and automated e-challan generation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091940" y="3259943"/>
            <a:ext cx="393192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E84848"/>
                </a:solidFill>
              </a:defRPr>
            </a:pPr>
            <a:r>
              <a:rPr lang="en-IN" dirty="0" smtClean="0"/>
              <a:t>SURENDRA - 2520090142</a:t>
            </a:r>
            <a:br>
              <a:rPr lang="en-IN" dirty="0" smtClean="0"/>
            </a:br>
            <a:r>
              <a:rPr lang="en-IN" dirty="0" smtClean="0"/>
              <a:t>AKASH – 2520090127</a:t>
            </a:r>
          </a:p>
          <a:p>
            <a:pPr algn="ctr">
              <a:defRPr sz="1800" b="1">
                <a:solidFill>
                  <a:srgbClr val="E84848"/>
                </a:solidFill>
              </a:defRPr>
            </a:pPr>
            <a:r>
              <a:rPr lang="en-IN" dirty="0" smtClean="0"/>
              <a:t>SAI ROHIT - 2520090091</a:t>
            </a:r>
            <a:endParaRPr dirty="0"/>
          </a:p>
        </p:txBody>
      </p:sp>
      <p:sp>
        <p:nvSpPr>
          <p:cNvPr id="17" name="TextBox 16"/>
          <p:cNvSpPr txBox="1"/>
          <p:nvPr/>
        </p:nvSpPr>
        <p:spPr>
          <a:xfrm>
            <a:off x="2743200" y="4617720"/>
            <a:ext cx="6675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41BED2"/>
                </a:solidFill>
              </a:defRPr>
            </a:pPr>
            <a:r>
              <a:t>Smart • Automated • Transparent • Real-Time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2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F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10104120" y="0"/>
            <a:ext cx="146304" cy="6858000"/>
          </a:xfrm>
          <a:prstGeom prst="rect">
            <a:avLst/>
          </a:prstGeom>
          <a:solidFill>
            <a:srgbClr val="41B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10469880" y="0"/>
            <a:ext cx="100584" cy="6858000"/>
          </a:xfrm>
          <a:prstGeom prst="rect">
            <a:avLst/>
          </a:prstGeom>
          <a:solidFill>
            <a:srgbClr val="2A8B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10789920" y="0"/>
            <a:ext cx="64008" cy="6858000"/>
          </a:xfrm>
          <a:prstGeom prst="rect">
            <a:avLst/>
          </a:prstGeom>
          <a:solidFill>
            <a:srgbClr val="E848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0" y="6327648"/>
            <a:ext cx="12191695" cy="530352"/>
          </a:xfrm>
          <a:prstGeom prst="rect">
            <a:avLst/>
          </a:prstGeom>
          <a:solidFill>
            <a:srgbClr val="040A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914400" y="6565392"/>
            <a:ext cx="1143000" cy="32004"/>
          </a:xfrm>
          <a:prstGeom prst="rect">
            <a:avLst/>
          </a:prstGeom>
          <a:solidFill>
            <a:srgbClr val="DCE1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3291840" y="6565392"/>
            <a:ext cx="1143000" cy="32004"/>
          </a:xfrm>
          <a:prstGeom prst="rect">
            <a:avLst/>
          </a:prstGeom>
          <a:solidFill>
            <a:srgbClr val="DCE1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5669280" y="6565392"/>
            <a:ext cx="1143000" cy="32004"/>
          </a:xfrm>
          <a:prstGeom prst="rect">
            <a:avLst/>
          </a:prstGeom>
          <a:solidFill>
            <a:srgbClr val="DCE1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8046720" y="6565392"/>
            <a:ext cx="1143000" cy="32004"/>
          </a:xfrm>
          <a:prstGeom prst="rect">
            <a:avLst/>
          </a:prstGeom>
          <a:solidFill>
            <a:srgbClr val="DCE1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10424160" y="6565392"/>
            <a:ext cx="1143000" cy="32004"/>
          </a:xfrm>
          <a:prstGeom prst="rect">
            <a:avLst/>
          </a:prstGeom>
          <a:solidFill>
            <a:srgbClr val="DCE1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94360" y="384048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5F9FC"/>
                </a:solidFill>
              </a:defRPr>
            </a:pPr>
            <a:r>
              <a:t>Problem Statement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94360" y="1143000"/>
            <a:ext cx="2011680" cy="45720"/>
          </a:xfrm>
          <a:prstGeom prst="rect">
            <a:avLst/>
          </a:prstGeom>
          <a:solidFill>
            <a:srgbClr val="E848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77240" y="1417320"/>
            <a:ext cx="365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900" b="1">
                <a:solidFill>
                  <a:srgbClr val="E84848"/>
                </a:solidFill>
              </a:defRPr>
            </a:pPr>
            <a:r>
              <a:t>1.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34440" y="1417320"/>
            <a:ext cx="950976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BECDDC"/>
                </a:solidFill>
              </a:defRPr>
            </a:pPr>
            <a:r>
              <a:t>Traditional traffic monitoring depends heavily on traffic police manually identifying violations and issuing challans.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2331720"/>
            <a:ext cx="365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900" b="1">
                <a:solidFill>
                  <a:srgbClr val="E84848"/>
                </a:solidFill>
              </a:defRPr>
            </a:pPr>
            <a:r>
              <a:t>2.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34440" y="2331720"/>
            <a:ext cx="950976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BECDDC"/>
                </a:solidFill>
              </a:defRPr>
            </a:pPr>
            <a:r>
              <a:t>Manual processing can be time-consuming, difficult to monitor continuously, and prone to human error.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" y="3246120"/>
            <a:ext cx="365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900" b="1">
                <a:solidFill>
                  <a:srgbClr val="E84848"/>
                </a:solidFill>
              </a:defRPr>
            </a:pPr>
            <a:r>
              <a:t>3.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34440" y="3246120"/>
            <a:ext cx="950976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BECDDC"/>
                </a:solidFill>
              </a:defRPr>
            </a:pPr>
            <a:r>
              <a:t>Traffic violations such as signal jumping, helmet violations, overspeeding and illegal parking may not always be detected immediately.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" y="4160520"/>
            <a:ext cx="365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900" b="1">
                <a:solidFill>
                  <a:srgbClr val="E84848"/>
                </a:solidFill>
              </a:defRPr>
            </a:pPr>
            <a:r>
              <a:t>4.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34440" y="4160520"/>
            <a:ext cx="950976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BECDDC"/>
                </a:solidFill>
              </a:defRPr>
            </a:pPr>
            <a:r>
              <a:t>Vehicle owners may not receive timely information about violations and pending fines.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7240" y="5074920"/>
            <a:ext cx="365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900" b="1">
                <a:solidFill>
                  <a:srgbClr val="E84848"/>
                </a:solidFill>
              </a:defRPr>
            </a:pPr>
            <a:r>
              <a:t>5.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34440" y="5074920"/>
            <a:ext cx="950976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BECDDC"/>
                </a:solidFill>
              </a:defRPr>
            </a:pPr>
            <a:r>
              <a:t>The proposed system uses AI/computer vision, vehicle identification and a centralized database to automate violation detection and e-challan management.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2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F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10104120" y="0"/>
            <a:ext cx="146304" cy="6858000"/>
          </a:xfrm>
          <a:prstGeom prst="rect">
            <a:avLst/>
          </a:prstGeom>
          <a:solidFill>
            <a:srgbClr val="41B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10469880" y="0"/>
            <a:ext cx="100584" cy="6858000"/>
          </a:xfrm>
          <a:prstGeom prst="rect">
            <a:avLst/>
          </a:prstGeom>
          <a:solidFill>
            <a:srgbClr val="2A8B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10789920" y="0"/>
            <a:ext cx="64008" cy="6858000"/>
          </a:xfrm>
          <a:prstGeom prst="rect">
            <a:avLst/>
          </a:prstGeom>
          <a:solidFill>
            <a:srgbClr val="E848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0" y="6327648"/>
            <a:ext cx="12191695" cy="530352"/>
          </a:xfrm>
          <a:prstGeom prst="rect">
            <a:avLst/>
          </a:prstGeom>
          <a:solidFill>
            <a:srgbClr val="040A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914400" y="6565392"/>
            <a:ext cx="1143000" cy="32004"/>
          </a:xfrm>
          <a:prstGeom prst="rect">
            <a:avLst/>
          </a:prstGeom>
          <a:solidFill>
            <a:srgbClr val="DCE1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3291840" y="6565392"/>
            <a:ext cx="1143000" cy="32004"/>
          </a:xfrm>
          <a:prstGeom prst="rect">
            <a:avLst/>
          </a:prstGeom>
          <a:solidFill>
            <a:srgbClr val="DCE1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5669280" y="6565392"/>
            <a:ext cx="1143000" cy="32004"/>
          </a:xfrm>
          <a:prstGeom prst="rect">
            <a:avLst/>
          </a:prstGeom>
          <a:solidFill>
            <a:srgbClr val="DCE1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8046720" y="6565392"/>
            <a:ext cx="1143000" cy="32004"/>
          </a:xfrm>
          <a:prstGeom prst="rect">
            <a:avLst/>
          </a:prstGeom>
          <a:solidFill>
            <a:srgbClr val="DCE1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10424160" y="6565392"/>
            <a:ext cx="1143000" cy="32004"/>
          </a:xfrm>
          <a:prstGeom prst="rect">
            <a:avLst/>
          </a:prstGeom>
          <a:solidFill>
            <a:srgbClr val="DCE1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94360" y="384048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5F9FC"/>
                </a:solidFill>
              </a:defRPr>
            </a:pPr>
            <a:r>
              <a:t>Objectives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94360" y="1143000"/>
            <a:ext cx="2011680" cy="45720"/>
          </a:xfrm>
          <a:prstGeom prst="rect">
            <a:avLst/>
          </a:prstGeom>
          <a:solidFill>
            <a:srgbClr val="E848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640080" y="1508760"/>
            <a:ext cx="3154680" cy="1600200"/>
          </a:xfrm>
          <a:prstGeom prst="roundRect">
            <a:avLst/>
          </a:prstGeom>
          <a:solidFill>
            <a:srgbClr val="12273C"/>
          </a:solidFill>
          <a:ln>
            <a:solidFill>
              <a:srgbClr val="304E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04671" y="1618488"/>
            <a:ext cx="502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E84848"/>
                </a:solidFill>
              </a:defRPr>
            </a:pPr>
            <a:r>
              <a:t>01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98448" y="1600200"/>
            <a:ext cx="2240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5F9FC"/>
                </a:solidFill>
              </a:defRPr>
            </a:pPr>
            <a:r>
              <a:t>Detect Traffic Violations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59" y="2148839"/>
            <a:ext cx="27432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50" b="0">
                <a:solidFill>
                  <a:srgbClr val="BECDDC"/>
                </a:solidFill>
              </a:defRPr>
            </a:pPr>
            <a:r>
              <a:t>Automatically detect violations using AI and computer vision.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160520" y="1508760"/>
            <a:ext cx="3154680" cy="1600200"/>
          </a:xfrm>
          <a:prstGeom prst="roundRect">
            <a:avLst/>
          </a:prstGeom>
          <a:solidFill>
            <a:srgbClr val="12273C"/>
          </a:solidFill>
          <a:ln>
            <a:solidFill>
              <a:srgbClr val="304E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325112" y="1618488"/>
            <a:ext cx="502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E84848"/>
                </a:solidFill>
              </a:defRPr>
            </a:pPr>
            <a:r>
              <a:t>02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818888" y="1600200"/>
            <a:ext cx="2240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5F9FC"/>
                </a:solidFill>
              </a:defRPr>
            </a:pPr>
            <a:r>
              <a:t>Identify Vehicles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343400" y="2148839"/>
            <a:ext cx="27432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50" b="0">
                <a:solidFill>
                  <a:srgbClr val="BECDDC"/>
                </a:solidFill>
              </a:defRPr>
            </a:pPr>
            <a:r>
              <a:t>Recognize vehicle number plates using ANPR.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680960" y="1508760"/>
            <a:ext cx="3154680" cy="1600200"/>
          </a:xfrm>
          <a:prstGeom prst="roundRect">
            <a:avLst/>
          </a:prstGeom>
          <a:solidFill>
            <a:srgbClr val="12273C"/>
          </a:solidFill>
          <a:ln>
            <a:solidFill>
              <a:srgbClr val="304E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7845552" y="1618488"/>
            <a:ext cx="502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E84848"/>
                </a:solidFill>
              </a:defRPr>
            </a:pPr>
            <a:r>
              <a:t>03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39328" y="1600200"/>
            <a:ext cx="2240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5F9FC"/>
                </a:solidFill>
              </a:defRPr>
            </a:pPr>
            <a:r>
              <a:t>Generate E-Challans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863840" y="2148839"/>
            <a:ext cx="27432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50" b="0">
                <a:solidFill>
                  <a:srgbClr val="BECDDC"/>
                </a:solidFill>
              </a:defRPr>
            </a:pPr>
            <a:r>
              <a:t>Automatically generate challans after validating violations.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40080" y="3703320"/>
            <a:ext cx="3154680" cy="1600200"/>
          </a:xfrm>
          <a:prstGeom prst="roundRect">
            <a:avLst/>
          </a:prstGeom>
          <a:solidFill>
            <a:srgbClr val="12273C"/>
          </a:solidFill>
          <a:ln>
            <a:solidFill>
              <a:srgbClr val="304E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804671" y="3813048"/>
            <a:ext cx="502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E84848"/>
                </a:solidFill>
              </a:defRPr>
            </a:pPr>
            <a:r>
              <a:t>04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298448" y="3794759"/>
            <a:ext cx="2240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5F9FC"/>
                </a:solidFill>
              </a:defRPr>
            </a:pPr>
            <a:r>
              <a:t>Capture Evidence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2959" y="4343400"/>
            <a:ext cx="27432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50" b="0">
                <a:solidFill>
                  <a:srgbClr val="BECDDC"/>
                </a:solidFill>
              </a:defRPr>
            </a:pPr>
            <a:r>
              <a:t>Store images/video and violation details as supporting evidence.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160520" y="3703320"/>
            <a:ext cx="3154680" cy="1600200"/>
          </a:xfrm>
          <a:prstGeom prst="roundRect">
            <a:avLst/>
          </a:prstGeom>
          <a:solidFill>
            <a:srgbClr val="12273C"/>
          </a:solidFill>
          <a:ln>
            <a:solidFill>
              <a:srgbClr val="304E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4325112" y="3813048"/>
            <a:ext cx="502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E84848"/>
                </a:solidFill>
              </a:defRPr>
            </a:pPr>
            <a:r>
              <a:t>05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818888" y="3794759"/>
            <a:ext cx="2240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5F9FC"/>
                </a:solidFill>
              </a:defRPr>
            </a:pPr>
            <a:r>
              <a:t>Online Management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343400" y="4343400"/>
            <a:ext cx="27432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50" b="0">
                <a:solidFill>
                  <a:srgbClr val="BECDDC"/>
                </a:solidFill>
              </a:defRPr>
            </a:pPr>
            <a:r>
              <a:t>Allow vehicle owners to view and pay challans online.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7680960" y="3703320"/>
            <a:ext cx="3154680" cy="1600200"/>
          </a:xfrm>
          <a:prstGeom prst="roundRect">
            <a:avLst/>
          </a:prstGeom>
          <a:solidFill>
            <a:srgbClr val="12273C"/>
          </a:solidFill>
          <a:ln>
            <a:solidFill>
              <a:srgbClr val="304E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7845552" y="3813048"/>
            <a:ext cx="502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E84848"/>
                </a:solidFill>
              </a:defRPr>
            </a:pPr>
            <a:r>
              <a:t>06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339328" y="3794759"/>
            <a:ext cx="2240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5F9FC"/>
                </a:solidFill>
              </a:defRPr>
            </a:pPr>
            <a:r>
              <a:t>Police Dashboard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863840" y="4343400"/>
            <a:ext cx="27432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50" b="0">
                <a:solidFill>
                  <a:srgbClr val="BECDDC"/>
                </a:solidFill>
              </a:defRPr>
            </a:pPr>
            <a:r>
              <a:t>Provide traffic police with monitoring, records and analytics.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2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F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10104120" y="0"/>
            <a:ext cx="146304" cy="6858000"/>
          </a:xfrm>
          <a:prstGeom prst="rect">
            <a:avLst/>
          </a:prstGeom>
          <a:solidFill>
            <a:srgbClr val="41B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10469880" y="0"/>
            <a:ext cx="100584" cy="6858000"/>
          </a:xfrm>
          <a:prstGeom prst="rect">
            <a:avLst/>
          </a:prstGeom>
          <a:solidFill>
            <a:srgbClr val="2A8B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10789920" y="0"/>
            <a:ext cx="64008" cy="6858000"/>
          </a:xfrm>
          <a:prstGeom prst="rect">
            <a:avLst/>
          </a:prstGeom>
          <a:solidFill>
            <a:srgbClr val="E848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0" y="6327648"/>
            <a:ext cx="12191695" cy="530352"/>
          </a:xfrm>
          <a:prstGeom prst="rect">
            <a:avLst/>
          </a:prstGeom>
          <a:solidFill>
            <a:srgbClr val="040A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914400" y="6565392"/>
            <a:ext cx="1143000" cy="32004"/>
          </a:xfrm>
          <a:prstGeom prst="rect">
            <a:avLst/>
          </a:prstGeom>
          <a:solidFill>
            <a:srgbClr val="DCE1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3291840" y="6565392"/>
            <a:ext cx="1143000" cy="32004"/>
          </a:xfrm>
          <a:prstGeom prst="rect">
            <a:avLst/>
          </a:prstGeom>
          <a:solidFill>
            <a:srgbClr val="DCE1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5669280" y="6565392"/>
            <a:ext cx="1143000" cy="32004"/>
          </a:xfrm>
          <a:prstGeom prst="rect">
            <a:avLst/>
          </a:prstGeom>
          <a:solidFill>
            <a:srgbClr val="DCE1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8046720" y="6565392"/>
            <a:ext cx="1143000" cy="32004"/>
          </a:xfrm>
          <a:prstGeom prst="rect">
            <a:avLst/>
          </a:prstGeom>
          <a:solidFill>
            <a:srgbClr val="DCE1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10424160" y="6565392"/>
            <a:ext cx="1143000" cy="32004"/>
          </a:xfrm>
          <a:prstGeom prst="rect">
            <a:avLst/>
          </a:prstGeom>
          <a:solidFill>
            <a:srgbClr val="DCE1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94360" y="384048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5F9FC"/>
                </a:solidFill>
              </a:defRPr>
            </a:pPr>
            <a:r>
              <a:t>System Architecture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94360" y="1143000"/>
            <a:ext cx="2011680" cy="45720"/>
          </a:xfrm>
          <a:prstGeom prst="rect">
            <a:avLst/>
          </a:prstGeom>
          <a:solidFill>
            <a:srgbClr val="E848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77240" y="1225296"/>
            <a:ext cx="10424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41BED2"/>
                </a:solidFill>
              </a:defRPr>
            </a:pPr>
            <a:r>
              <a:t>End-to-end flow: traffic capture → detection → identification → validation → e-challan → payment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11480" y="1828800"/>
            <a:ext cx="1828800" cy="822960"/>
          </a:xfrm>
          <a:prstGeom prst="roundRect">
            <a:avLst/>
          </a:prstGeom>
          <a:solidFill>
            <a:srgbClr val="12273C"/>
          </a:solidFill>
          <a:ln w="21590">
            <a:solidFill>
              <a:srgbClr val="41BE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84632" y="1975104"/>
            <a:ext cx="1682496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1">
                <a:solidFill>
                  <a:srgbClr val="F5F9FC"/>
                </a:solidFill>
              </a:defRPr>
            </a:pPr>
            <a:r>
              <a:t>CCTV / Camera</a:t>
            </a:r>
            <a:br/>
            <a:r>
              <a:t>Traffic Sensors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514600" y="1828800"/>
            <a:ext cx="1828800" cy="822960"/>
          </a:xfrm>
          <a:prstGeom prst="roundRect">
            <a:avLst/>
          </a:prstGeom>
          <a:solidFill>
            <a:srgbClr val="12273C"/>
          </a:solidFill>
          <a:ln w="21590">
            <a:solidFill>
              <a:srgbClr val="41BE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2587752" y="1975104"/>
            <a:ext cx="1682496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1">
                <a:solidFill>
                  <a:srgbClr val="F5F9FC"/>
                </a:solidFill>
              </a:defRPr>
            </a:pPr>
            <a:r>
              <a:t>AI / Computer Vision</a:t>
            </a:r>
            <a:br/>
            <a:r>
              <a:t>Violation Detection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709160" y="1828800"/>
            <a:ext cx="1828800" cy="822960"/>
          </a:xfrm>
          <a:prstGeom prst="roundRect">
            <a:avLst/>
          </a:prstGeom>
          <a:solidFill>
            <a:srgbClr val="12273C"/>
          </a:solidFill>
          <a:ln w="21590">
            <a:solidFill>
              <a:srgbClr val="41BE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4782312" y="1975104"/>
            <a:ext cx="1682496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1">
                <a:solidFill>
                  <a:srgbClr val="F5F9FC"/>
                </a:solidFill>
              </a:defRPr>
            </a:pPr>
            <a:r>
              <a:t>ANPR</a:t>
            </a:r>
            <a:br/>
            <a:r>
              <a:t>Number Plate Recognition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995160" y="1828800"/>
            <a:ext cx="1828800" cy="822960"/>
          </a:xfrm>
          <a:prstGeom prst="roundRect">
            <a:avLst/>
          </a:prstGeom>
          <a:solidFill>
            <a:srgbClr val="12273C"/>
          </a:solidFill>
          <a:ln w="21590">
            <a:solidFill>
              <a:srgbClr val="41BE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7068312" y="1975104"/>
            <a:ext cx="1682496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1">
                <a:solidFill>
                  <a:srgbClr val="F5F9FC"/>
                </a:solidFill>
              </a:defRPr>
            </a:pPr>
            <a:r>
              <a:t>Violation</a:t>
            </a:r>
            <a:br/>
            <a:r>
              <a:t>Validation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144000" y="1828800"/>
            <a:ext cx="1828800" cy="822960"/>
          </a:xfrm>
          <a:prstGeom prst="roundRect">
            <a:avLst/>
          </a:prstGeom>
          <a:solidFill>
            <a:srgbClr val="12273C"/>
          </a:solidFill>
          <a:ln w="21590">
            <a:solidFill>
              <a:srgbClr val="E84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9217152" y="1975104"/>
            <a:ext cx="1682496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1">
                <a:solidFill>
                  <a:srgbClr val="F5F9FC"/>
                </a:solidFill>
              </a:defRPr>
            </a:pPr>
            <a:r>
              <a:t>E-Challan</a:t>
            </a:r>
            <a:br/>
            <a:r>
              <a:t>Generation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983480" y="3611880"/>
            <a:ext cx="1828800" cy="822960"/>
          </a:xfrm>
          <a:prstGeom prst="roundRect">
            <a:avLst/>
          </a:prstGeom>
          <a:solidFill>
            <a:srgbClr val="12273C"/>
          </a:solidFill>
          <a:ln w="21590">
            <a:solidFill>
              <a:srgbClr val="41BE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5056632" y="3758184"/>
            <a:ext cx="1682496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1">
                <a:solidFill>
                  <a:srgbClr val="F5F9FC"/>
                </a:solidFill>
              </a:defRPr>
            </a:pPr>
            <a:r>
              <a:t>Central Database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1417320" y="4800600"/>
            <a:ext cx="1828800" cy="822960"/>
          </a:xfrm>
          <a:prstGeom prst="roundRect">
            <a:avLst/>
          </a:prstGeom>
          <a:solidFill>
            <a:srgbClr val="12273C"/>
          </a:solidFill>
          <a:ln w="21590">
            <a:solidFill>
              <a:srgbClr val="41BE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1490472" y="4946904"/>
            <a:ext cx="1682496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1">
                <a:solidFill>
                  <a:srgbClr val="F5F9FC"/>
                </a:solidFill>
              </a:defRPr>
            </a:pPr>
            <a:r>
              <a:t>Traffic Police</a:t>
            </a:r>
            <a:br/>
            <a:r>
              <a:t>Dashboard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818120" y="4800600"/>
            <a:ext cx="1828800" cy="822960"/>
          </a:xfrm>
          <a:prstGeom prst="roundRect">
            <a:avLst/>
          </a:prstGeom>
          <a:solidFill>
            <a:srgbClr val="12273C"/>
          </a:solidFill>
          <a:ln w="21590">
            <a:solidFill>
              <a:srgbClr val="41BE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7891272" y="4946904"/>
            <a:ext cx="1682496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1">
                <a:solidFill>
                  <a:srgbClr val="F5F9FC"/>
                </a:solidFill>
              </a:defRPr>
            </a:pPr>
            <a:r>
              <a:t>Vehicle Owner</a:t>
            </a:r>
            <a:br/>
            <a:r>
              <a:t>Web / Mobile App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983480" y="4800600"/>
            <a:ext cx="1828800" cy="822960"/>
          </a:xfrm>
          <a:prstGeom prst="roundRect">
            <a:avLst/>
          </a:prstGeom>
          <a:solidFill>
            <a:srgbClr val="12273C"/>
          </a:solidFill>
          <a:ln w="21590">
            <a:solidFill>
              <a:srgbClr val="E84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5056632" y="4946904"/>
            <a:ext cx="1682496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1">
                <a:solidFill>
                  <a:srgbClr val="F5F9FC"/>
                </a:solidFill>
              </a:defRPr>
            </a:pPr>
            <a:r>
              <a:t>Online Payment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2240280" y="2240280"/>
            <a:ext cx="274320" cy="0"/>
          </a:xfrm>
          <a:prstGeom prst="line">
            <a:avLst/>
          </a:prstGeom>
          <a:ln w="22860">
            <a:solidFill>
              <a:srgbClr val="BECD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4343400" y="2240280"/>
            <a:ext cx="365760" cy="0"/>
          </a:xfrm>
          <a:prstGeom prst="line">
            <a:avLst/>
          </a:prstGeom>
          <a:ln w="22860">
            <a:solidFill>
              <a:srgbClr val="BECD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6537960" y="2240280"/>
            <a:ext cx="457200" cy="0"/>
          </a:xfrm>
          <a:prstGeom prst="line">
            <a:avLst/>
          </a:prstGeom>
          <a:ln w="22860">
            <a:solidFill>
              <a:srgbClr val="BECD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8823960" y="2240280"/>
            <a:ext cx="320040" cy="0"/>
          </a:xfrm>
          <a:prstGeom prst="line">
            <a:avLst/>
          </a:prstGeom>
          <a:ln w="22860">
            <a:solidFill>
              <a:srgbClr val="BECD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 flipH="1">
            <a:off x="5897880" y="2651760"/>
            <a:ext cx="4160520" cy="960120"/>
          </a:xfrm>
          <a:prstGeom prst="line">
            <a:avLst/>
          </a:prstGeom>
          <a:ln w="22860">
            <a:solidFill>
              <a:srgbClr val="BECD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 flipH="1">
            <a:off x="2331720" y="4434840"/>
            <a:ext cx="3566160" cy="365760"/>
          </a:xfrm>
          <a:prstGeom prst="line">
            <a:avLst/>
          </a:prstGeom>
          <a:ln w="22860">
            <a:solidFill>
              <a:srgbClr val="BECD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5897880" y="4434840"/>
            <a:ext cx="2834640" cy="365760"/>
          </a:xfrm>
          <a:prstGeom prst="line">
            <a:avLst/>
          </a:prstGeom>
          <a:ln w="22860">
            <a:solidFill>
              <a:srgbClr val="BECD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5897880" y="4434840"/>
            <a:ext cx="0" cy="365760"/>
          </a:xfrm>
          <a:prstGeom prst="line">
            <a:avLst/>
          </a:prstGeom>
          <a:ln w="22860">
            <a:solidFill>
              <a:srgbClr val="BECD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TextBox 40"/>
          <p:cNvSpPr txBox="1"/>
          <p:nvPr/>
        </p:nvSpPr>
        <p:spPr>
          <a:xfrm>
            <a:off x="777240" y="5870448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E84848"/>
                </a:solidFill>
              </a:defRPr>
            </a:pPr>
            <a:r>
              <a:t>System flow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920240" y="5870448"/>
            <a:ext cx="9235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5F9FC"/>
                </a:solidFill>
              </a:defRPr>
            </a:pPr>
            <a:r>
              <a:t>Capture → Detect → Identify → Validate → Generate Challan → Store → Notify / Pay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245</Words>
  <Application>Microsoft Office PowerPoint</Application>
  <PresentationFormat>Widescreen</PresentationFormat>
  <Paragraphs>48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>TheoremLogic NumericLogorithm</dc:creator>
  <cp:keywords/>
  <dc:description>generated using python-pptx</dc:description>
  <cp:lastModifiedBy>Sairohit</cp:lastModifiedBy>
  <cp:revision>3</cp:revision>
  <dcterms:created xsi:type="dcterms:W3CDTF">2013-01-27T09:14:16Z</dcterms:created>
  <dcterms:modified xsi:type="dcterms:W3CDTF">2026-10-05T14:55:53Z</dcterms:modified>
  <cp:category/>
</cp:coreProperties>
</file>