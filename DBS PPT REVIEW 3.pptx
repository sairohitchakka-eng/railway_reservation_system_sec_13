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embeddedFontLst>
    <p:embeddedFont>
      <p:font typeface="Red Hat Mono SemiBold" panose="020B0604020202020204" charset="0"/>
      <p:regular r:id="rId10"/>
    </p:embeddedFont>
    <p:embeddedFont>
      <p:font typeface="Red Hat Mono Medium" panose="020B0604020202020204" charset="0"/>
      <p:regular r:id="rId11"/>
    </p:embeddedFont>
    <p:embeddedFont>
      <p:font typeface="Calibri" panose="020F0502020204030204" pitchFamily="34" charset="0"/>
      <p:regular r:id="rId12"/>
      <p:bold r:id="rId13"/>
      <p:italic r:id="rId14"/>
      <p:boldItalic r:id="rId15"/>
    </p:embeddedFont>
    <p:embeddedFont>
      <p:font typeface="Big Shoulders ExtraBold" panose="020B0604020202020204" charset="0"/>
      <p:regular r:id="rId16"/>
    </p:embeddedFont>
    <p:embeddedFont>
      <p:font typeface="Libre Franklin" panose="020B0604020202020204" charset="0"/>
      <p:regular r:id="rId17"/>
    </p:embeddedFont>
    <p:embeddedFont>
      <p:font typeface="Libre Franklin SemiBold" panose="020B0604020202020204" charset="0"/>
      <p:regular r:id="rId18"/>
    </p:embeddedFont>
    <p:embeddedFont>
      <p:font typeface="Libre Franklin Medium"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7" d="100"/>
          <a:sy n="47" d="100"/>
        </p:scale>
        <p:origin x="573"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145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as a Review 3 proposal. The focus is the design of a clear railway reservation journey, not a claim about a deployed or already tested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project aim in one sentence. Emphasize that this is a design proposal and keep the discussion anchored on the experience the system should create.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Search begins the journey, comparison supports the decision, reservation completes the transaction, and presentation closes the loop with the e-ticket.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contribution carefully. The value proposed here is a simpler and more transparent flow. Avoid claiming that the system is globally novel or already complete.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hub to explain the intended boundaries. The components are separated so the approach can adapt, while rules such as train, station, class, and fare remain configurable rather than hard-coded.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evaluation plan concrete without fabricating findings. Name the four tasks, then the four measures. When results exist, report the sample and method alongside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is part of the proposed design, not a compliance claim. Explain both the interaction recommendations and the dissemination plan, then label their status honestly.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7EBE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7EBE0"/>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685800"/>
            <a:ext cx="5968851" cy="3903663"/>
          </a:xfrm>
          <a:prstGeom prst="rect">
            <a:avLst/>
          </a:prstGeom>
          <a:solidFill>
            <a:srgbClr val="EFDDCC"/>
          </a:solidFill>
          <a:ln/>
        </p:spPr>
      </p:sp>
      <p:sp>
        <p:nvSpPr>
          <p:cNvPr id="3" name="Shape 1"/>
          <p:cNvSpPr/>
          <p:nvPr/>
        </p:nvSpPr>
        <p:spPr>
          <a:xfrm>
            <a:off x="609585" y="685800"/>
            <a:ext cx="50799" cy="3903663"/>
          </a:xfrm>
          <a:prstGeom prst="rect">
            <a:avLst/>
          </a:prstGeom>
          <a:solidFill>
            <a:srgbClr val="0B6B6A"/>
          </a:solidFill>
          <a:ln/>
        </p:spPr>
      </p:sp>
      <p:sp>
        <p:nvSpPr>
          <p:cNvPr id="4" name="Text 2"/>
          <p:cNvSpPr/>
          <p:nvPr/>
        </p:nvSpPr>
        <p:spPr>
          <a:xfrm>
            <a:off x="1041374" y="970344"/>
            <a:ext cx="5816454" cy="188913"/>
          </a:xfrm>
          <a:prstGeom prst="rect">
            <a:avLst/>
          </a:prstGeom>
          <a:noFill/>
          <a:ln/>
        </p:spPr>
        <p:txBody>
          <a:bodyPr wrap="none" lIns="0" tIns="0" rIns="0" bIns="0" rtlCol="0" anchor="t"/>
          <a:lstStyle/>
          <a:p>
            <a:pPr marL="0" indent="0" algn="l">
              <a:lnSpc>
                <a:spcPct val="103000"/>
              </a:lnSpc>
              <a:buNone/>
            </a:pPr>
            <a:r>
              <a:rPr lang="en-US" sz="1200" kern="100" spc="90" dirty="0">
                <a:solidFill>
                  <a:srgbClr val="0B6B6A"/>
                </a:solidFill>
                <a:latin typeface="Red Hat Mono SemiBold" pitchFamily="34" charset="0"/>
                <a:ea typeface="Red Hat Mono SemiBold" pitchFamily="34" charset="-122"/>
                <a:cs typeface="Red Hat Mono SemiBold" pitchFamily="34" charset="-120"/>
              </a:rPr>
              <a:t>REVIEW 3 · PROPOSED SYSTEM DESIGN</a:t>
            </a:r>
            <a:endParaRPr lang="en-US" sz="1200" dirty="0"/>
          </a:p>
        </p:txBody>
      </p:sp>
      <p:sp>
        <p:nvSpPr>
          <p:cNvPr id="5" name="Text 3"/>
          <p:cNvSpPr/>
          <p:nvPr/>
        </p:nvSpPr>
        <p:spPr>
          <a:xfrm>
            <a:off x="1041374" y="1360308"/>
            <a:ext cx="5206870" cy="2663726"/>
          </a:xfrm>
          <a:prstGeom prst="rect">
            <a:avLst/>
          </a:prstGeom>
          <a:noFill/>
          <a:ln/>
        </p:spPr>
        <p:txBody>
          <a:bodyPr wrap="square" lIns="0" tIns="0" rIns="0" bIns="0" rtlCol="0" anchor="t">
            <a:normAutofit lnSpcReduction="10000"/>
          </a:bodyPr>
          <a:lstStyle/>
          <a:p>
            <a:pPr marL="0" indent="0" algn="l">
              <a:lnSpc>
                <a:spcPct val="77000"/>
              </a:lnSpc>
              <a:buNone/>
            </a:pPr>
            <a:r>
              <a:rPr lang="en-US" sz="7600" kern="100" spc="-228" dirty="0">
                <a:solidFill>
                  <a:srgbClr val="24180F"/>
                </a:solidFill>
                <a:latin typeface="Big Shoulders ExtraBold" pitchFamily="34" charset="0"/>
                <a:ea typeface="Big Shoulders ExtraBold" pitchFamily="34" charset="-122"/>
                <a:cs typeface="Big Shoulders ExtraBold" pitchFamily="34" charset="-120"/>
              </a:rPr>
              <a:t>RAILWAY</a:t>
            </a:r>
            <a:endParaRPr lang="en-US" sz="7600" dirty="0"/>
          </a:p>
          <a:p>
            <a:pPr marL="0" indent="0" algn="l">
              <a:lnSpc>
                <a:spcPct val="77000"/>
              </a:lnSpc>
              <a:buNone/>
            </a:pPr>
            <a:r>
              <a:rPr lang="en-US" sz="7600" kern="100" spc="-228" dirty="0">
                <a:solidFill>
                  <a:srgbClr val="24180F"/>
                </a:solidFill>
                <a:latin typeface="Big Shoulders ExtraBold" pitchFamily="34" charset="0"/>
                <a:ea typeface="Big Shoulders ExtraBold" pitchFamily="34" charset="-122"/>
                <a:cs typeface="Big Shoulders ExtraBold" pitchFamily="34" charset="-120"/>
              </a:rPr>
              <a:t>RESERVATION</a:t>
            </a:r>
            <a:endParaRPr lang="en-US" sz="7600" dirty="0"/>
          </a:p>
          <a:p>
            <a:pPr marL="0" indent="0" algn="l">
              <a:lnSpc>
                <a:spcPct val="77000"/>
              </a:lnSpc>
              <a:buNone/>
            </a:pPr>
            <a:r>
              <a:rPr lang="en-US" sz="7600" kern="100" spc="-228" dirty="0">
                <a:solidFill>
                  <a:srgbClr val="24180F"/>
                </a:solidFill>
                <a:latin typeface="Big Shoulders ExtraBold" pitchFamily="34" charset="0"/>
                <a:ea typeface="Big Shoulders ExtraBold" pitchFamily="34" charset="-122"/>
                <a:cs typeface="Big Shoulders ExtraBold" pitchFamily="34" charset="-120"/>
              </a:rPr>
              <a:t>SYSTEM</a:t>
            </a:r>
            <a:endParaRPr lang="en-US" sz="7600" dirty="0"/>
          </a:p>
        </p:txBody>
      </p:sp>
      <p:sp>
        <p:nvSpPr>
          <p:cNvPr id="6" name="Text 4"/>
          <p:cNvSpPr/>
          <p:nvPr/>
        </p:nvSpPr>
        <p:spPr>
          <a:xfrm>
            <a:off x="1041374" y="4047200"/>
            <a:ext cx="5206870" cy="295374"/>
          </a:xfrm>
          <a:prstGeom prst="rect">
            <a:avLst/>
          </a:prstGeom>
          <a:noFill/>
          <a:ln/>
        </p:spPr>
        <p:txBody>
          <a:bodyPr wrap="square" lIns="0" tIns="101598" rIns="0" bIns="0" rtlCol="0" anchor="t">
            <a:normAutofit/>
          </a:bodyPr>
          <a:lstStyle/>
          <a:p>
            <a:pPr marL="0" indent="0" algn="l">
              <a:lnSpc>
                <a:spcPct val="103000"/>
              </a:lnSpc>
              <a:buNone/>
            </a:pPr>
            <a:r>
              <a:rPr lang="en-US" sz="1150" dirty="0">
                <a:solidFill>
                  <a:srgbClr val="6A5545"/>
                </a:solidFill>
                <a:latin typeface="Red Hat Mono Medium" pitchFamily="34" charset="0"/>
                <a:ea typeface="Red Hat Mono Medium" pitchFamily="34" charset="-122"/>
                <a:cs typeface="Red Hat Mono Medium" pitchFamily="34" charset="-120"/>
              </a:rPr>
              <a:t>A guided journey from trip search to confirmed booking</a:t>
            </a:r>
            <a:endParaRPr lang="en-US" sz="1150" dirty="0"/>
          </a:p>
        </p:txBody>
      </p:sp>
      <p:sp>
        <p:nvSpPr>
          <p:cNvPr id="7" name="Shape 5"/>
          <p:cNvSpPr/>
          <p:nvPr/>
        </p:nvSpPr>
        <p:spPr>
          <a:xfrm>
            <a:off x="1041374" y="4052788"/>
            <a:ext cx="88799" cy="69751"/>
          </a:xfrm>
          <a:prstGeom prst="rect">
            <a:avLst/>
          </a:prstGeom>
          <a:solidFill>
            <a:srgbClr val="2418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876678" cy="6858000"/>
          </a:xfrm>
          <a:prstGeom prst="rect">
            <a:avLst/>
          </a:prstGeom>
          <a:solidFill>
            <a:srgbClr val="24180F"/>
          </a:solidFill>
          <a:ln/>
        </p:spPr>
      </p:sp>
      <p:sp>
        <p:nvSpPr>
          <p:cNvPr id="3" name="Text 1"/>
          <p:cNvSpPr/>
          <p:nvPr/>
        </p:nvSpPr>
        <p:spPr>
          <a:xfrm>
            <a:off x="584185" y="589344"/>
            <a:ext cx="4292493" cy="188913"/>
          </a:xfrm>
          <a:prstGeom prst="rect">
            <a:avLst/>
          </a:prstGeom>
          <a:noFill/>
          <a:ln/>
        </p:spPr>
        <p:txBody>
          <a:bodyPr wrap="none" lIns="0" tIns="0" rIns="0" bIns="0" rtlCol="0" anchor="t"/>
          <a:lstStyle/>
          <a:p>
            <a:pPr marL="0" indent="0" algn="l">
              <a:lnSpc>
                <a:spcPct val="103000"/>
              </a:lnSpc>
              <a:buNone/>
            </a:pPr>
            <a:r>
              <a:rPr lang="en-US" sz="1200" kern="100" spc="90" dirty="0">
                <a:solidFill>
                  <a:srgbClr val="FFFFFF"/>
                </a:solidFill>
                <a:latin typeface="Red Hat Mono SemiBold" pitchFamily="34" charset="0"/>
                <a:ea typeface="Red Hat Mono SemiBold" pitchFamily="34" charset="-122"/>
                <a:cs typeface="Red Hat Mono SemiBold" pitchFamily="34" charset="-120"/>
              </a:rPr>
              <a:t>PROJECT AIM</a:t>
            </a:r>
            <a:endParaRPr lang="en-US" sz="1200" dirty="0"/>
          </a:p>
        </p:txBody>
      </p:sp>
      <p:sp>
        <p:nvSpPr>
          <p:cNvPr id="4" name="Text 2"/>
          <p:cNvSpPr/>
          <p:nvPr/>
        </p:nvSpPr>
        <p:spPr>
          <a:xfrm>
            <a:off x="584185" y="946691"/>
            <a:ext cx="3809905" cy="1355328"/>
          </a:xfrm>
          <a:prstGeom prst="rect">
            <a:avLst/>
          </a:prstGeom>
          <a:noFill/>
          <a:ln/>
        </p:spPr>
        <p:txBody>
          <a:bodyPr wrap="square" lIns="0" tIns="0" rIns="0" bIns="0" rtlCol="0" anchor="t">
            <a:normAutofit lnSpcReduction="10000"/>
          </a:bodyPr>
          <a:lstStyle/>
          <a:p>
            <a:pPr marL="0" indent="0" algn="l">
              <a:lnSpc>
                <a:spcPct val="77000"/>
              </a:lnSpc>
              <a:buNone/>
            </a:pPr>
            <a:r>
              <a:rPr lang="en-US" sz="5800" kern="100" spc="-174" dirty="0">
                <a:solidFill>
                  <a:srgbClr val="FFFFFF"/>
                </a:solidFill>
                <a:latin typeface="Big Shoulders ExtraBold" pitchFamily="34" charset="0"/>
                <a:ea typeface="Big Shoulders ExtraBold" pitchFamily="34" charset="-122"/>
                <a:cs typeface="Big Shoulders ExtraBold" pitchFamily="34" charset="-120"/>
              </a:rPr>
              <a:t>ONE CLEAR</a:t>
            </a:r>
            <a:endParaRPr lang="en-US" sz="5800" dirty="0"/>
          </a:p>
          <a:p>
            <a:pPr marL="0" indent="0" algn="l">
              <a:lnSpc>
                <a:spcPct val="77000"/>
              </a:lnSpc>
              <a:buNone/>
            </a:pPr>
            <a:r>
              <a:rPr lang="en-US" sz="5800" kern="100" spc="-174" dirty="0">
                <a:solidFill>
                  <a:srgbClr val="FFFFFF"/>
                </a:solidFill>
                <a:latin typeface="Big Shoulders ExtraBold" pitchFamily="34" charset="0"/>
                <a:ea typeface="Big Shoulders ExtraBold" pitchFamily="34" charset="-122"/>
                <a:cs typeface="Big Shoulders ExtraBold" pitchFamily="34" charset="-120"/>
              </a:rPr>
              <a:t>JOURNEY</a:t>
            </a:r>
            <a:endParaRPr lang="en-US" sz="5800" dirty="0"/>
          </a:p>
        </p:txBody>
      </p:sp>
      <p:sp>
        <p:nvSpPr>
          <p:cNvPr id="5" name="Text 3"/>
          <p:cNvSpPr/>
          <p:nvPr/>
        </p:nvSpPr>
        <p:spPr>
          <a:xfrm>
            <a:off x="584185" y="6036338"/>
            <a:ext cx="3809905" cy="295374"/>
          </a:xfrm>
          <a:prstGeom prst="rect">
            <a:avLst/>
          </a:prstGeom>
          <a:noFill/>
          <a:ln/>
        </p:spPr>
        <p:txBody>
          <a:bodyPr wrap="square" lIns="0" tIns="101598" rIns="0" bIns="0" rtlCol="0" anchor="t">
            <a:normAutofit/>
          </a:bodyPr>
          <a:lstStyle/>
          <a:p>
            <a:pPr marL="0" indent="0" algn="l">
              <a:lnSpc>
                <a:spcPct val="103000"/>
              </a:lnSpc>
              <a:buNone/>
            </a:pPr>
            <a:r>
              <a:rPr lang="en-US" sz="1150" dirty="0">
                <a:solidFill>
                  <a:srgbClr val="FFFFFF"/>
                </a:solidFill>
                <a:latin typeface="Red Hat Mono Medium" pitchFamily="34" charset="0"/>
                <a:ea typeface="Red Hat Mono Medium" pitchFamily="34" charset="-122"/>
                <a:cs typeface="Red Hat Mono Medium" pitchFamily="34" charset="-120"/>
              </a:rPr>
              <a:t>SEARCH · CHECK · ENTER · CONFIRM</a:t>
            </a:r>
            <a:endParaRPr lang="en-US" sz="1150" dirty="0"/>
          </a:p>
        </p:txBody>
      </p:sp>
      <p:sp>
        <p:nvSpPr>
          <p:cNvPr id="6" name="Shape 4"/>
          <p:cNvSpPr/>
          <p:nvPr/>
        </p:nvSpPr>
        <p:spPr>
          <a:xfrm>
            <a:off x="584185" y="6041926"/>
            <a:ext cx="88799" cy="69751"/>
          </a:xfrm>
          <a:prstGeom prst="rect">
            <a:avLst/>
          </a:prstGeom>
          <a:solidFill>
            <a:srgbClr val="24180F"/>
          </a:solidFill>
          <a:ln/>
        </p:spPr>
      </p:sp>
      <p:sp>
        <p:nvSpPr>
          <p:cNvPr id="7" name="Text 5"/>
          <p:cNvSpPr/>
          <p:nvPr/>
        </p:nvSpPr>
        <p:spPr>
          <a:xfrm>
            <a:off x="5435464" y="632865"/>
            <a:ext cx="6146646" cy="981273"/>
          </a:xfrm>
          <a:prstGeom prst="rect">
            <a:avLst/>
          </a:prstGeom>
          <a:noFill/>
          <a:ln/>
        </p:spPr>
        <p:txBody>
          <a:bodyPr wrap="square" lIns="0" tIns="0" rIns="0" bIns="0" rtlCol="0" anchor="t">
            <a:normAutofit lnSpcReduction="10000"/>
          </a:bodyPr>
          <a:lstStyle/>
          <a:p>
            <a:pPr marL="0" indent="0" algn="l">
              <a:lnSpc>
                <a:spcPct val="77000"/>
              </a:lnSpc>
              <a:buNone/>
            </a:pPr>
            <a:r>
              <a:rPr lang="en-US" sz="4200" kern="100" spc="-126" dirty="0">
                <a:solidFill>
                  <a:srgbClr val="24180F"/>
                </a:solidFill>
                <a:latin typeface="Big Shoulders ExtraBold" pitchFamily="34" charset="0"/>
                <a:ea typeface="Big Shoulders ExtraBold" pitchFamily="34" charset="-122"/>
                <a:cs typeface="Big Shoulders ExtraBold" pitchFamily="34" charset="-120"/>
              </a:rPr>
              <a:t>ONE CLEAR JOURNEY FROM TRIP SEARCH TO CONFIRMED BOOKING</a:t>
            </a:r>
            <a:endParaRPr lang="en-US" sz="4200" dirty="0"/>
          </a:p>
        </p:txBody>
      </p:sp>
      <p:sp>
        <p:nvSpPr>
          <p:cNvPr id="8" name="Text 6"/>
          <p:cNvSpPr/>
          <p:nvPr/>
        </p:nvSpPr>
        <p:spPr>
          <a:xfrm>
            <a:off x="5435464" y="1711206"/>
            <a:ext cx="6146646" cy="1051322"/>
          </a:xfrm>
          <a:prstGeom prst="rect">
            <a:avLst/>
          </a:prstGeom>
          <a:noFill/>
          <a:ln/>
        </p:spPr>
        <p:txBody>
          <a:bodyPr wrap="square" lIns="0" tIns="0" rIns="0" bIns="0" rtlCol="0" anchor="t">
            <a:normAutofit lnSpcReduction="10000"/>
          </a:bodyPr>
          <a:lstStyle/>
          <a:p>
            <a:pPr marL="0" indent="0" algn="l">
              <a:lnSpc>
                <a:spcPct val="115000"/>
              </a:lnSpc>
              <a:buNone/>
            </a:pPr>
            <a:r>
              <a:rPr lang="en-US" sz="2000" dirty="0">
                <a:solidFill>
                  <a:srgbClr val="24180F"/>
                </a:solidFill>
                <a:latin typeface="Libre Franklin" pitchFamily="34" charset="0"/>
                <a:ea typeface="Libre Franklin" pitchFamily="34" charset="-122"/>
                <a:cs typeface="Libre Franklin" pitchFamily="34" charset="-120"/>
              </a:rPr>
              <a:t>Make train discovery, availability checks, passenger entry, and ticket access feel like one understandable journey.</a:t>
            </a:r>
            <a:endParaRPr lang="en-US" sz="2000" dirty="0"/>
          </a:p>
        </p:txBody>
      </p:sp>
      <p:sp>
        <p:nvSpPr>
          <p:cNvPr id="9" name="Text 7"/>
          <p:cNvSpPr/>
          <p:nvPr/>
        </p:nvSpPr>
        <p:spPr>
          <a:xfrm>
            <a:off x="5435464" y="3096982"/>
            <a:ext cx="2048816" cy="181074"/>
          </a:xfrm>
          <a:prstGeom prst="rect">
            <a:avLst/>
          </a:prstGeom>
          <a:noFill/>
          <a:ln/>
        </p:spPr>
        <p:txBody>
          <a:bodyPr wrap="none" lIns="0" tIns="0" rIns="0" bIns="0" rtlCol="0" anchor="t"/>
          <a:lstStyle/>
          <a:p>
            <a:pPr marL="0" indent="0" algn="l">
              <a:lnSpc>
                <a:spcPct val="103000"/>
              </a:lnSpc>
              <a:buNone/>
            </a:pPr>
            <a:r>
              <a:rPr lang="en-US" sz="1150" dirty="0">
                <a:solidFill>
                  <a:srgbClr val="6A5545"/>
                </a:solidFill>
                <a:latin typeface="Red Hat Mono Medium" pitchFamily="34" charset="0"/>
                <a:ea typeface="Red Hat Mono Medium" pitchFamily="34" charset="-122"/>
                <a:cs typeface="Red Hat Mono Medium" pitchFamily="34" charset="-120"/>
              </a:rPr>
              <a:t>PROPOSAL FRAME</a:t>
            </a:r>
            <a:endParaRPr lang="en-US" sz="1150" dirty="0"/>
          </a:p>
        </p:txBody>
      </p:sp>
      <p:sp>
        <p:nvSpPr>
          <p:cNvPr id="10" name="Text 8"/>
          <p:cNvSpPr/>
          <p:nvPr/>
        </p:nvSpPr>
        <p:spPr>
          <a:xfrm>
            <a:off x="5435464" y="3371084"/>
            <a:ext cx="1845621" cy="1191419"/>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Design choices to review, not claims about current service failures.</a:t>
            </a:r>
            <a:endParaRPr lang="en-US" sz="1700" dirty="0"/>
          </a:p>
        </p:txBody>
      </p:sp>
      <p:sp>
        <p:nvSpPr>
          <p:cNvPr id="11" name="Text 9"/>
          <p:cNvSpPr/>
          <p:nvPr/>
        </p:nvSpPr>
        <p:spPr>
          <a:xfrm>
            <a:off x="7687475" y="3096982"/>
            <a:ext cx="3894635" cy="181074"/>
          </a:xfrm>
          <a:prstGeom prst="rect">
            <a:avLst/>
          </a:prstGeom>
          <a:noFill/>
          <a:ln/>
        </p:spPr>
        <p:txBody>
          <a:bodyPr wrap="none" lIns="0" tIns="0" rIns="0" bIns="0" rtlCol="0" anchor="t"/>
          <a:lstStyle/>
          <a:p>
            <a:pPr marL="0" indent="0" algn="l">
              <a:lnSpc>
                <a:spcPct val="103000"/>
              </a:lnSpc>
              <a:buNone/>
            </a:pPr>
            <a:r>
              <a:rPr lang="en-US" sz="1150" dirty="0">
                <a:solidFill>
                  <a:srgbClr val="6A5545"/>
                </a:solidFill>
                <a:latin typeface="Red Hat Mono Medium" pitchFamily="34" charset="0"/>
                <a:ea typeface="Red Hat Mono Medium" pitchFamily="34" charset="-122"/>
                <a:cs typeface="Red Hat Mono Medium" pitchFamily="34" charset="-120"/>
              </a:rPr>
              <a:t>DESIRED EXPERIENCE</a:t>
            </a:r>
            <a:endParaRPr lang="en-US" sz="1150" dirty="0"/>
          </a:p>
        </p:txBody>
      </p:sp>
      <p:sp>
        <p:nvSpPr>
          <p:cNvPr id="12" name="Text 10"/>
          <p:cNvSpPr/>
          <p:nvPr/>
        </p:nvSpPr>
        <p:spPr>
          <a:xfrm>
            <a:off x="7687475" y="3371084"/>
            <a:ext cx="3894635" cy="595709"/>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Fewer handoffs, clearer decisions, easier ticket access.</a:t>
            </a:r>
            <a:endParaRPr lang="en-US" sz="1700" dirty="0"/>
          </a:p>
        </p:txBody>
      </p:sp>
      <p:sp>
        <p:nvSpPr>
          <p:cNvPr id="13" name="Shape 11"/>
          <p:cNvSpPr/>
          <p:nvPr/>
        </p:nvSpPr>
        <p:spPr>
          <a:xfrm>
            <a:off x="7477930" y="2937470"/>
            <a:ext cx="12700" cy="1775718"/>
          </a:xfrm>
          <a:prstGeom prst="rect">
            <a:avLst/>
          </a:prstGeom>
          <a:solidFill>
            <a:srgbClr val="D4BEAA"/>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62344"/>
            <a:ext cx="11734506" cy="188913"/>
          </a:xfrm>
          <a:prstGeom prst="rect">
            <a:avLst/>
          </a:prstGeom>
          <a:noFill/>
          <a:ln/>
        </p:spPr>
        <p:txBody>
          <a:bodyPr wrap="none" lIns="0" tIns="0" rIns="0" bIns="0" rtlCol="0" anchor="t"/>
          <a:lstStyle/>
          <a:p>
            <a:pPr marL="0" indent="0" algn="l">
              <a:lnSpc>
                <a:spcPct val="103000"/>
              </a:lnSpc>
              <a:buNone/>
            </a:pPr>
            <a:r>
              <a:rPr lang="en-US" sz="1200" kern="100" spc="90" dirty="0">
                <a:solidFill>
                  <a:srgbClr val="0B6B6A"/>
                </a:solidFill>
                <a:latin typeface="Red Hat Mono SemiBold" pitchFamily="34" charset="0"/>
                <a:ea typeface="Red Hat Mono SemiBold" pitchFamily="34" charset="-122"/>
                <a:cs typeface="Red Hat Mono SemiBold" pitchFamily="34" charset="-120"/>
              </a:rPr>
              <a:t>PROPOSED METHOD · BOOKING JOURNEY</a:t>
            </a:r>
            <a:endParaRPr lang="en-US" sz="1200" dirty="0"/>
          </a:p>
        </p:txBody>
      </p:sp>
      <p:sp>
        <p:nvSpPr>
          <p:cNvPr id="3" name="Text 1"/>
          <p:cNvSpPr/>
          <p:nvPr/>
        </p:nvSpPr>
        <p:spPr>
          <a:xfrm>
            <a:off x="457189" y="790027"/>
            <a:ext cx="11277318" cy="490637"/>
          </a:xfrm>
          <a:prstGeom prst="rect">
            <a:avLst/>
          </a:prstGeom>
          <a:noFill/>
          <a:ln/>
        </p:spPr>
        <p:txBody>
          <a:bodyPr wrap="none" lIns="0" tIns="0" rIns="0" bIns="0" rtlCol="0" anchor="t"/>
          <a:lstStyle/>
          <a:p>
            <a:pPr marL="0" indent="0" algn="l">
              <a:lnSpc>
                <a:spcPct val="77000"/>
              </a:lnSpc>
              <a:buNone/>
            </a:pPr>
            <a:r>
              <a:rPr lang="en-US" sz="4200" kern="100" spc="-126" dirty="0">
                <a:solidFill>
                  <a:srgbClr val="24180F"/>
                </a:solidFill>
                <a:latin typeface="Big Shoulders ExtraBold" pitchFamily="34" charset="0"/>
                <a:ea typeface="Big Shoulders ExtraBold" pitchFamily="34" charset="-122"/>
                <a:cs typeface="Big Shoulders ExtraBold" pitchFamily="34" charset="-120"/>
              </a:rPr>
              <a:t>THE PROPOSED METHOD CONNECTS EACH BOOKING STEP</a:t>
            </a:r>
            <a:endParaRPr lang="en-US" sz="4200" dirty="0"/>
          </a:p>
        </p:txBody>
      </p:sp>
      <p:sp>
        <p:nvSpPr>
          <p:cNvPr id="4" name="Text 2"/>
          <p:cNvSpPr/>
          <p:nvPr/>
        </p:nvSpPr>
        <p:spPr>
          <a:xfrm>
            <a:off x="457189" y="1381986"/>
            <a:ext cx="11277318" cy="476448"/>
          </a:xfrm>
          <a:prstGeom prst="rect">
            <a:avLst/>
          </a:prstGeom>
          <a:noFill/>
          <a:ln/>
        </p:spPr>
        <p:txBody>
          <a:bodyPr wrap="square" lIns="0" tIns="101598" rIns="0" bIns="0" rtlCol="0" anchor="t">
            <a:normAutofit/>
          </a:bodyPr>
          <a:lstStyle/>
          <a:p>
            <a:pPr marL="0" indent="0" algn="l">
              <a:lnSpc>
                <a:spcPct val="103000"/>
              </a:lnSpc>
              <a:buNone/>
            </a:pPr>
            <a:r>
              <a:rPr lang="en-US" sz="1150" dirty="0">
                <a:solidFill>
                  <a:srgbClr val="6A5545"/>
                </a:solidFill>
                <a:latin typeface="Red Hat Mono Medium" pitchFamily="34" charset="0"/>
                <a:ea typeface="Red Hat Mono Medium" pitchFamily="34" charset="-122"/>
                <a:cs typeface="Red Hat Mono Medium" pitchFamily="34" charset="-120"/>
              </a:rPr>
              <a:t>Official IRCTC e-ticket guidance describes route and train search, class and fare checks, availability checks, passenger details, and payment.</a:t>
            </a:r>
            <a:endParaRPr lang="en-US" sz="1150" dirty="0"/>
          </a:p>
        </p:txBody>
      </p:sp>
      <p:sp>
        <p:nvSpPr>
          <p:cNvPr id="5" name="Shape 3"/>
          <p:cNvSpPr/>
          <p:nvPr/>
        </p:nvSpPr>
        <p:spPr>
          <a:xfrm>
            <a:off x="457189" y="1387574"/>
            <a:ext cx="88799" cy="69751"/>
          </a:xfrm>
          <a:prstGeom prst="rect">
            <a:avLst/>
          </a:prstGeom>
          <a:solidFill>
            <a:srgbClr val="24180F"/>
          </a:solidFill>
          <a:ln/>
        </p:spPr>
      </p:sp>
      <p:pic>
        <p:nvPicPr>
          <p:cNvPr id="6" name="Image 0" descr="preencoded.png"/>
          <p:cNvPicPr>
            <a:picLocks noChangeAspect="1"/>
          </p:cNvPicPr>
          <p:nvPr/>
        </p:nvPicPr>
        <p:blipFill>
          <a:blip r:embed="rId3"/>
          <a:stretch>
            <a:fillRect/>
          </a:stretch>
        </p:blipFill>
        <p:spPr>
          <a:xfrm>
            <a:off x="457189" y="2003723"/>
            <a:ext cx="431789" cy="431800"/>
          </a:xfrm>
          <a:prstGeom prst="rect">
            <a:avLst/>
          </a:prstGeom>
        </p:spPr>
      </p:pic>
      <p:sp>
        <p:nvSpPr>
          <p:cNvPr id="7" name="Text 4"/>
          <p:cNvSpPr/>
          <p:nvPr/>
        </p:nvSpPr>
        <p:spPr>
          <a:xfrm>
            <a:off x="457189" y="2546076"/>
            <a:ext cx="2590735"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Search</a:t>
            </a:r>
            <a:endParaRPr lang="en-US" sz="1900" dirty="0"/>
          </a:p>
        </p:txBody>
      </p:sp>
      <p:sp>
        <p:nvSpPr>
          <p:cNvPr id="8" name="Text 5"/>
          <p:cNvSpPr/>
          <p:nvPr/>
        </p:nvSpPr>
        <p:spPr>
          <a:xfrm>
            <a:off x="457189" y="2950694"/>
            <a:ext cx="2590735" cy="893564"/>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Choose origin, destination, date, and class.</a:t>
            </a:r>
            <a:endParaRPr lang="en-US" sz="1700" dirty="0"/>
          </a:p>
        </p:txBody>
      </p:sp>
      <p:pic>
        <p:nvPicPr>
          <p:cNvPr id="9" name="Image 1" descr="preencoded.png"/>
          <p:cNvPicPr>
            <a:picLocks noChangeAspect="1"/>
          </p:cNvPicPr>
          <p:nvPr/>
        </p:nvPicPr>
        <p:blipFill>
          <a:blip r:embed="rId3"/>
          <a:stretch>
            <a:fillRect/>
          </a:stretch>
        </p:blipFill>
        <p:spPr>
          <a:xfrm>
            <a:off x="3352716" y="2003723"/>
            <a:ext cx="431789" cy="431800"/>
          </a:xfrm>
          <a:prstGeom prst="rect">
            <a:avLst/>
          </a:prstGeom>
        </p:spPr>
      </p:pic>
      <p:sp>
        <p:nvSpPr>
          <p:cNvPr id="10" name="Text 6"/>
          <p:cNvSpPr/>
          <p:nvPr/>
        </p:nvSpPr>
        <p:spPr>
          <a:xfrm>
            <a:off x="3352716" y="2546076"/>
            <a:ext cx="2590735"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Compare</a:t>
            </a:r>
            <a:endParaRPr lang="en-US" sz="1900" dirty="0"/>
          </a:p>
        </p:txBody>
      </p:sp>
      <p:sp>
        <p:nvSpPr>
          <p:cNvPr id="11" name="Text 7"/>
          <p:cNvSpPr/>
          <p:nvPr/>
        </p:nvSpPr>
        <p:spPr>
          <a:xfrm>
            <a:off x="3352716" y="2950694"/>
            <a:ext cx="2590735" cy="595709"/>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Review train options, fares, and availability.</a:t>
            </a:r>
            <a:endParaRPr lang="en-US" sz="1700" dirty="0"/>
          </a:p>
        </p:txBody>
      </p:sp>
      <p:pic>
        <p:nvPicPr>
          <p:cNvPr id="12" name="Image 2" descr="preencoded.png"/>
          <p:cNvPicPr>
            <a:picLocks noChangeAspect="1"/>
          </p:cNvPicPr>
          <p:nvPr/>
        </p:nvPicPr>
        <p:blipFill>
          <a:blip r:embed="rId4"/>
          <a:stretch>
            <a:fillRect/>
          </a:stretch>
        </p:blipFill>
        <p:spPr>
          <a:xfrm>
            <a:off x="6248244" y="2003723"/>
            <a:ext cx="431789" cy="431800"/>
          </a:xfrm>
          <a:prstGeom prst="rect">
            <a:avLst/>
          </a:prstGeom>
        </p:spPr>
      </p:pic>
      <p:sp>
        <p:nvSpPr>
          <p:cNvPr id="13" name="Text 8"/>
          <p:cNvSpPr/>
          <p:nvPr/>
        </p:nvSpPr>
        <p:spPr>
          <a:xfrm>
            <a:off x="6248244" y="2546076"/>
            <a:ext cx="2590735"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Reserve</a:t>
            </a:r>
            <a:endParaRPr lang="en-US" sz="1900" dirty="0"/>
          </a:p>
        </p:txBody>
      </p:sp>
      <p:sp>
        <p:nvSpPr>
          <p:cNvPr id="14" name="Text 9"/>
          <p:cNvSpPr/>
          <p:nvPr/>
        </p:nvSpPr>
        <p:spPr>
          <a:xfrm>
            <a:off x="6248244" y="2950694"/>
            <a:ext cx="2590735" cy="595709"/>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Enter passenger details and complete payment.</a:t>
            </a:r>
            <a:endParaRPr lang="en-US" sz="1700" dirty="0"/>
          </a:p>
        </p:txBody>
      </p:sp>
      <p:pic>
        <p:nvPicPr>
          <p:cNvPr id="15" name="Image 3" descr="preencoded.png"/>
          <p:cNvPicPr>
            <a:picLocks noChangeAspect="1"/>
          </p:cNvPicPr>
          <p:nvPr/>
        </p:nvPicPr>
        <p:blipFill>
          <a:blip r:embed="rId3"/>
          <a:stretch>
            <a:fillRect/>
          </a:stretch>
        </p:blipFill>
        <p:spPr>
          <a:xfrm>
            <a:off x="9143771" y="2003723"/>
            <a:ext cx="431789" cy="431800"/>
          </a:xfrm>
          <a:prstGeom prst="rect">
            <a:avLst/>
          </a:prstGeom>
        </p:spPr>
      </p:pic>
      <p:sp>
        <p:nvSpPr>
          <p:cNvPr id="16" name="Text 10"/>
          <p:cNvSpPr/>
          <p:nvPr/>
        </p:nvSpPr>
        <p:spPr>
          <a:xfrm>
            <a:off x="9143771" y="2546076"/>
            <a:ext cx="2590735"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Present</a:t>
            </a:r>
            <a:endParaRPr lang="en-US" sz="1900" dirty="0"/>
          </a:p>
        </p:txBody>
      </p:sp>
      <p:sp>
        <p:nvSpPr>
          <p:cNvPr id="17" name="Text 11"/>
          <p:cNvSpPr/>
          <p:nvPr/>
        </p:nvSpPr>
        <p:spPr>
          <a:xfrm>
            <a:off x="9143771" y="2950694"/>
            <a:ext cx="2590735" cy="595709"/>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Retrieve and present the e-ticket.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62344"/>
            <a:ext cx="11734506" cy="188913"/>
          </a:xfrm>
          <a:prstGeom prst="rect">
            <a:avLst/>
          </a:prstGeom>
          <a:noFill/>
          <a:ln/>
        </p:spPr>
        <p:txBody>
          <a:bodyPr wrap="none" lIns="0" tIns="0" rIns="0" bIns="0" rtlCol="0" anchor="t"/>
          <a:lstStyle/>
          <a:p>
            <a:pPr marL="0" indent="0" algn="l">
              <a:lnSpc>
                <a:spcPct val="103000"/>
              </a:lnSpc>
              <a:buNone/>
            </a:pPr>
            <a:r>
              <a:rPr lang="en-US" sz="1200" kern="100" spc="90" dirty="0">
                <a:solidFill>
                  <a:srgbClr val="0B6B6A"/>
                </a:solidFill>
                <a:latin typeface="Red Hat Mono SemiBold" pitchFamily="34" charset="0"/>
                <a:ea typeface="Red Hat Mono SemiBold" pitchFamily="34" charset="-122"/>
                <a:cs typeface="Red Hat Mono SemiBold" pitchFamily="34" charset="-120"/>
              </a:rPr>
              <a:t>PROPOSED CONTRIBUTION</a:t>
            </a:r>
            <a:endParaRPr lang="en-US" sz="1200" dirty="0"/>
          </a:p>
        </p:txBody>
      </p:sp>
      <p:sp>
        <p:nvSpPr>
          <p:cNvPr id="3" name="Text 1"/>
          <p:cNvSpPr/>
          <p:nvPr/>
        </p:nvSpPr>
        <p:spPr>
          <a:xfrm>
            <a:off x="457189" y="790027"/>
            <a:ext cx="11277318" cy="981273"/>
          </a:xfrm>
          <a:prstGeom prst="rect">
            <a:avLst/>
          </a:prstGeom>
          <a:noFill/>
          <a:ln/>
        </p:spPr>
        <p:txBody>
          <a:bodyPr wrap="square" lIns="0" tIns="0" rIns="0" bIns="0" rtlCol="0" anchor="t">
            <a:normAutofit lnSpcReduction="10000"/>
          </a:bodyPr>
          <a:lstStyle/>
          <a:p>
            <a:pPr marL="0" indent="0" algn="l">
              <a:lnSpc>
                <a:spcPct val="77000"/>
              </a:lnSpc>
              <a:buNone/>
            </a:pPr>
            <a:r>
              <a:rPr lang="en-US" sz="4200" kern="100" spc="-126" dirty="0">
                <a:solidFill>
                  <a:srgbClr val="24180F"/>
                </a:solidFill>
                <a:latin typeface="Big Shoulders ExtraBold" pitchFamily="34" charset="0"/>
                <a:ea typeface="Big Shoulders ExtraBold" pitchFamily="34" charset="-122"/>
                <a:cs typeface="Big Shoulders ExtraBold" pitchFamily="34" charset="-120"/>
              </a:rPr>
              <a:t>THE PROPOSED CONTRIBUTION IS A SIMPLER, MORE TRANSPARENT BOOKING FLOW</a:t>
            </a:r>
            <a:endParaRPr lang="en-US" sz="4200" dirty="0"/>
          </a:p>
        </p:txBody>
      </p:sp>
      <p:sp>
        <p:nvSpPr>
          <p:cNvPr id="4" name="Text 2"/>
          <p:cNvSpPr/>
          <p:nvPr/>
        </p:nvSpPr>
        <p:spPr>
          <a:xfrm>
            <a:off x="457189" y="1872623"/>
            <a:ext cx="11277318" cy="295374"/>
          </a:xfrm>
          <a:prstGeom prst="rect">
            <a:avLst/>
          </a:prstGeom>
          <a:noFill/>
          <a:ln/>
        </p:spPr>
        <p:txBody>
          <a:bodyPr wrap="square" lIns="0" tIns="101598" rIns="0" bIns="0" rtlCol="0" anchor="t">
            <a:normAutofit/>
          </a:bodyPr>
          <a:lstStyle/>
          <a:p>
            <a:pPr marL="0" indent="0" algn="l">
              <a:lnSpc>
                <a:spcPct val="103000"/>
              </a:lnSpc>
              <a:buNone/>
            </a:pPr>
            <a:r>
              <a:rPr lang="en-US" sz="1150" dirty="0">
                <a:solidFill>
                  <a:srgbClr val="6A5545"/>
                </a:solidFill>
                <a:latin typeface="Red Hat Mono Medium" pitchFamily="34" charset="0"/>
                <a:ea typeface="Red Hat Mono Medium" pitchFamily="34" charset="-122"/>
                <a:cs typeface="Red Hat Mono Medium" pitchFamily="34" charset="-120"/>
              </a:rPr>
              <a:t>Design contribution · proposed for review, not presented as proven global novelty</a:t>
            </a:r>
            <a:endParaRPr lang="en-US" sz="1150" dirty="0"/>
          </a:p>
        </p:txBody>
      </p:sp>
      <p:sp>
        <p:nvSpPr>
          <p:cNvPr id="5" name="Shape 3"/>
          <p:cNvSpPr/>
          <p:nvPr/>
        </p:nvSpPr>
        <p:spPr>
          <a:xfrm>
            <a:off x="457189" y="1878211"/>
            <a:ext cx="88799" cy="69751"/>
          </a:xfrm>
          <a:prstGeom prst="rect">
            <a:avLst/>
          </a:prstGeom>
          <a:solidFill>
            <a:srgbClr val="24180F"/>
          </a:solidFill>
          <a:ln/>
        </p:spPr>
      </p:sp>
      <p:sp>
        <p:nvSpPr>
          <p:cNvPr id="6" name="Shape 4"/>
          <p:cNvSpPr/>
          <p:nvPr/>
        </p:nvSpPr>
        <p:spPr>
          <a:xfrm>
            <a:off x="457189" y="2338685"/>
            <a:ext cx="3555911" cy="38100"/>
          </a:xfrm>
          <a:prstGeom prst="rect">
            <a:avLst/>
          </a:prstGeom>
          <a:solidFill>
            <a:srgbClr val="0B6B6A"/>
          </a:solidFill>
          <a:ln/>
        </p:spPr>
      </p:sp>
      <p:pic>
        <p:nvPicPr>
          <p:cNvPr id="7" name="Image 0" descr="preencoded.png"/>
          <p:cNvPicPr>
            <a:picLocks noChangeAspect="1"/>
          </p:cNvPicPr>
          <p:nvPr/>
        </p:nvPicPr>
        <p:blipFill>
          <a:blip r:embed="rId3"/>
          <a:stretch>
            <a:fillRect/>
          </a:stretch>
        </p:blipFill>
        <p:spPr>
          <a:xfrm>
            <a:off x="761981" y="2656185"/>
            <a:ext cx="431789" cy="431800"/>
          </a:xfrm>
          <a:prstGeom prst="rect">
            <a:avLst/>
          </a:prstGeom>
        </p:spPr>
      </p:pic>
      <p:sp>
        <p:nvSpPr>
          <p:cNvPr id="8" name="Text 5"/>
          <p:cNvSpPr/>
          <p:nvPr/>
        </p:nvSpPr>
        <p:spPr>
          <a:xfrm>
            <a:off x="761981" y="3202984"/>
            <a:ext cx="2946326" cy="371773"/>
          </a:xfrm>
          <a:prstGeom prst="rect">
            <a:avLst/>
          </a:prstGeom>
          <a:noFill/>
          <a:ln/>
        </p:spPr>
        <p:txBody>
          <a:bodyPr wrap="none" lIns="0" tIns="0" rIns="0" bIns="0" rtlCol="0" anchor="t"/>
          <a:lstStyle/>
          <a:p>
            <a:pPr marL="0" indent="0" algn="l">
              <a:lnSpc>
                <a:spcPct val="102000"/>
              </a:lnSpc>
              <a:buNone/>
            </a:pPr>
            <a:r>
              <a:rPr lang="en-US" sz="2400" dirty="0">
                <a:solidFill>
                  <a:srgbClr val="24180F"/>
                </a:solidFill>
                <a:latin typeface="Libre Franklin Medium" pitchFamily="34" charset="0"/>
                <a:ea typeface="Libre Franklin Medium" pitchFamily="34" charset="-122"/>
                <a:cs typeface="Libre Franklin Medium" pitchFamily="34" charset="-120"/>
              </a:rPr>
              <a:t>One guided journey</a:t>
            </a:r>
            <a:endParaRPr lang="en-US" sz="2400" dirty="0"/>
          </a:p>
        </p:txBody>
      </p:sp>
      <p:sp>
        <p:nvSpPr>
          <p:cNvPr id="9" name="Text 6"/>
          <p:cNvSpPr/>
          <p:nvPr/>
        </p:nvSpPr>
        <p:spPr>
          <a:xfrm>
            <a:off x="761981" y="3680547"/>
            <a:ext cx="2946326" cy="893564"/>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Bring search, availability, booking, and ticket access into a single guided flow.</a:t>
            </a:r>
            <a:endParaRPr lang="en-US" sz="1700" dirty="0"/>
          </a:p>
        </p:txBody>
      </p:sp>
      <p:sp>
        <p:nvSpPr>
          <p:cNvPr id="10" name="Shape 7"/>
          <p:cNvSpPr/>
          <p:nvPr/>
        </p:nvSpPr>
        <p:spPr>
          <a:xfrm>
            <a:off x="4317892" y="2338685"/>
            <a:ext cx="3555911" cy="38100"/>
          </a:xfrm>
          <a:prstGeom prst="rect">
            <a:avLst/>
          </a:prstGeom>
          <a:solidFill>
            <a:srgbClr val="0B6B6A"/>
          </a:solidFill>
          <a:ln/>
        </p:spPr>
      </p:sp>
      <p:pic>
        <p:nvPicPr>
          <p:cNvPr id="11" name="Image 1" descr="preencoded.png"/>
          <p:cNvPicPr>
            <a:picLocks noChangeAspect="1"/>
          </p:cNvPicPr>
          <p:nvPr/>
        </p:nvPicPr>
        <p:blipFill>
          <a:blip r:embed="rId4"/>
          <a:stretch>
            <a:fillRect/>
          </a:stretch>
        </p:blipFill>
        <p:spPr>
          <a:xfrm>
            <a:off x="4622684" y="2656185"/>
            <a:ext cx="431789" cy="431800"/>
          </a:xfrm>
          <a:prstGeom prst="rect">
            <a:avLst/>
          </a:prstGeom>
        </p:spPr>
      </p:pic>
      <p:sp>
        <p:nvSpPr>
          <p:cNvPr id="12" name="Text 8"/>
          <p:cNvSpPr/>
          <p:nvPr/>
        </p:nvSpPr>
        <p:spPr>
          <a:xfrm>
            <a:off x="4622684" y="3202984"/>
            <a:ext cx="2946326" cy="371773"/>
          </a:xfrm>
          <a:prstGeom prst="rect">
            <a:avLst/>
          </a:prstGeom>
          <a:noFill/>
          <a:ln/>
        </p:spPr>
        <p:txBody>
          <a:bodyPr wrap="none" lIns="0" tIns="0" rIns="0" bIns="0" rtlCol="0" anchor="t"/>
          <a:lstStyle/>
          <a:p>
            <a:pPr marL="0" indent="0" algn="l">
              <a:lnSpc>
                <a:spcPct val="102000"/>
              </a:lnSpc>
              <a:buNone/>
            </a:pPr>
            <a:r>
              <a:rPr lang="en-US" sz="2400" dirty="0">
                <a:solidFill>
                  <a:srgbClr val="24180F"/>
                </a:solidFill>
                <a:latin typeface="Libre Franklin Medium" pitchFamily="34" charset="0"/>
                <a:ea typeface="Libre Franklin Medium" pitchFamily="34" charset="-122"/>
                <a:cs typeface="Libre Franklin Medium" pitchFamily="34" charset="-120"/>
              </a:rPr>
              <a:t>Earlier visibility</a:t>
            </a:r>
            <a:endParaRPr lang="en-US" sz="2400" dirty="0"/>
          </a:p>
        </p:txBody>
      </p:sp>
      <p:sp>
        <p:nvSpPr>
          <p:cNvPr id="13" name="Text 9"/>
          <p:cNvSpPr/>
          <p:nvPr/>
        </p:nvSpPr>
        <p:spPr>
          <a:xfrm>
            <a:off x="4622684" y="3680547"/>
            <a:ext cx="2946326" cy="893564"/>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Make fare and availability visible before passenger details are entered.</a:t>
            </a:r>
            <a:endParaRPr lang="en-US" sz="1700" dirty="0"/>
          </a:p>
        </p:txBody>
      </p:sp>
      <p:sp>
        <p:nvSpPr>
          <p:cNvPr id="14" name="Shape 10"/>
          <p:cNvSpPr/>
          <p:nvPr/>
        </p:nvSpPr>
        <p:spPr>
          <a:xfrm>
            <a:off x="8178595" y="2338685"/>
            <a:ext cx="3555911" cy="38100"/>
          </a:xfrm>
          <a:prstGeom prst="rect">
            <a:avLst/>
          </a:prstGeom>
          <a:solidFill>
            <a:srgbClr val="0B6B6A"/>
          </a:solidFill>
          <a:ln/>
        </p:spPr>
      </p:sp>
      <p:pic>
        <p:nvPicPr>
          <p:cNvPr id="15" name="Image 2" descr="preencoded.png"/>
          <p:cNvPicPr>
            <a:picLocks noChangeAspect="1"/>
          </p:cNvPicPr>
          <p:nvPr/>
        </p:nvPicPr>
        <p:blipFill>
          <a:blip r:embed="rId5"/>
          <a:stretch>
            <a:fillRect/>
          </a:stretch>
        </p:blipFill>
        <p:spPr>
          <a:xfrm>
            <a:off x="8483388" y="2656185"/>
            <a:ext cx="431789" cy="431800"/>
          </a:xfrm>
          <a:prstGeom prst="rect">
            <a:avLst/>
          </a:prstGeom>
        </p:spPr>
      </p:pic>
      <p:sp>
        <p:nvSpPr>
          <p:cNvPr id="16" name="Text 11"/>
          <p:cNvSpPr/>
          <p:nvPr/>
        </p:nvSpPr>
        <p:spPr>
          <a:xfrm>
            <a:off x="8483388" y="3202984"/>
            <a:ext cx="2946326" cy="371773"/>
          </a:xfrm>
          <a:prstGeom prst="rect">
            <a:avLst/>
          </a:prstGeom>
          <a:noFill/>
          <a:ln/>
        </p:spPr>
        <p:txBody>
          <a:bodyPr wrap="none" lIns="0" tIns="0" rIns="0" bIns="0" rtlCol="0" anchor="t"/>
          <a:lstStyle/>
          <a:p>
            <a:pPr marL="0" indent="0" algn="l">
              <a:lnSpc>
                <a:spcPct val="102000"/>
              </a:lnSpc>
              <a:buNone/>
            </a:pPr>
            <a:r>
              <a:rPr lang="en-US" sz="2400" dirty="0">
                <a:solidFill>
                  <a:srgbClr val="24180F"/>
                </a:solidFill>
                <a:latin typeface="Libre Franklin Medium" pitchFamily="34" charset="0"/>
                <a:ea typeface="Libre Franklin Medium" pitchFamily="34" charset="-122"/>
                <a:cs typeface="Libre Franklin Medium" pitchFamily="34" charset="-120"/>
              </a:rPr>
              <a:t>Honest scope</a:t>
            </a:r>
            <a:endParaRPr lang="en-US" sz="2400" dirty="0"/>
          </a:p>
        </p:txBody>
      </p:sp>
      <p:sp>
        <p:nvSpPr>
          <p:cNvPr id="17" name="Text 12"/>
          <p:cNvSpPr/>
          <p:nvPr/>
        </p:nvSpPr>
        <p:spPr>
          <a:xfrm>
            <a:off x="8483388" y="3680547"/>
            <a:ext cx="2946326" cy="1191419"/>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Describe these as proposed design contributions, not completed features or proven novelty.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4063898" cy="6858000"/>
          </a:xfrm>
          <a:prstGeom prst="rect">
            <a:avLst/>
          </a:prstGeom>
          <a:solidFill>
            <a:srgbClr val="24180F"/>
          </a:solidFill>
          <a:ln/>
        </p:spPr>
      </p:sp>
      <p:sp>
        <p:nvSpPr>
          <p:cNvPr id="3" name="Text 1"/>
          <p:cNvSpPr/>
          <p:nvPr/>
        </p:nvSpPr>
        <p:spPr>
          <a:xfrm>
            <a:off x="507987" y="513144"/>
            <a:ext cx="3555911" cy="188913"/>
          </a:xfrm>
          <a:prstGeom prst="rect">
            <a:avLst/>
          </a:prstGeom>
          <a:noFill/>
          <a:ln/>
        </p:spPr>
        <p:txBody>
          <a:bodyPr wrap="none" lIns="0" tIns="0" rIns="0" bIns="0" rtlCol="0" anchor="t"/>
          <a:lstStyle/>
          <a:p>
            <a:pPr marL="0" indent="0" algn="l">
              <a:lnSpc>
                <a:spcPct val="103000"/>
              </a:lnSpc>
              <a:buNone/>
            </a:pPr>
            <a:r>
              <a:rPr lang="en-US" sz="1200" kern="100" spc="90" dirty="0">
                <a:solidFill>
                  <a:srgbClr val="FFFFFF"/>
                </a:solidFill>
                <a:latin typeface="Red Hat Mono SemiBold" pitchFamily="34" charset="0"/>
                <a:ea typeface="Red Hat Mono SemiBold" pitchFamily="34" charset="-122"/>
                <a:cs typeface="Red Hat Mono SemiBold" pitchFamily="34" charset="-120"/>
              </a:rPr>
              <a:t>ARCHITECTURAL INTENTION</a:t>
            </a:r>
            <a:endParaRPr lang="en-US" sz="1200" dirty="0"/>
          </a:p>
        </p:txBody>
      </p:sp>
      <p:sp>
        <p:nvSpPr>
          <p:cNvPr id="4" name="Text 2"/>
          <p:cNvSpPr/>
          <p:nvPr/>
        </p:nvSpPr>
        <p:spPr>
          <a:xfrm>
            <a:off x="507987" y="870491"/>
            <a:ext cx="3149521" cy="1355328"/>
          </a:xfrm>
          <a:prstGeom prst="rect">
            <a:avLst/>
          </a:prstGeom>
          <a:noFill/>
          <a:ln/>
        </p:spPr>
        <p:txBody>
          <a:bodyPr wrap="square" lIns="0" tIns="0" rIns="0" bIns="0" rtlCol="0" anchor="t">
            <a:normAutofit lnSpcReduction="10000"/>
          </a:bodyPr>
          <a:lstStyle/>
          <a:p>
            <a:pPr marL="0" indent="0" algn="l">
              <a:lnSpc>
                <a:spcPct val="77000"/>
              </a:lnSpc>
              <a:buNone/>
            </a:pPr>
            <a:r>
              <a:rPr lang="en-US" sz="5800" kern="100" spc="-174" dirty="0">
                <a:solidFill>
                  <a:srgbClr val="FFFFFF"/>
                </a:solidFill>
                <a:latin typeface="Big Shoulders ExtraBold" pitchFamily="34" charset="0"/>
                <a:ea typeface="Big Shoulders ExtraBold" pitchFamily="34" charset="-122"/>
                <a:cs typeface="Big Shoulders ExtraBold" pitchFamily="34" charset="-120"/>
              </a:rPr>
              <a:t>ADAPTABLE</a:t>
            </a:r>
            <a:endParaRPr lang="en-US" sz="5800" dirty="0"/>
          </a:p>
          <a:p>
            <a:pPr marL="0" indent="0" algn="l">
              <a:lnSpc>
                <a:spcPct val="77000"/>
              </a:lnSpc>
              <a:buNone/>
            </a:pPr>
            <a:r>
              <a:rPr lang="en-US" sz="5800" kern="100" spc="-174" dirty="0">
                <a:solidFill>
                  <a:srgbClr val="FFFFFF"/>
                </a:solidFill>
                <a:latin typeface="Big Shoulders ExtraBold" pitchFamily="34" charset="0"/>
                <a:ea typeface="Big Shoulders ExtraBold" pitchFamily="34" charset="-122"/>
                <a:cs typeface="Big Shoulders ExtraBold" pitchFamily="34" charset="-120"/>
              </a:rPr>
              <a:t>BY DESIGN</a:t>
            </a:r>
            <a:endParaRPr lang="en-US" sz="5800" dirty="0"/>
          </a:p>
        </p:txBody>
      </p:sp>
      <p:sp>
        <p:nvSpPr>
          <p:cNvPr id="5" name="Text 3"/>
          <p:cNvSpPr/>
          <p:nvPr/>
        </p:nvSpPr>
        <p:spPr>
          <a:xfrm>
            <a:off x="507987" y="5906064"/>
            <a:ext cx="3149521" cy="476448"/>
          </a:xfrm>
          <a:prstGeom prst="rect">
            <a:avLst/>
          </a:prstGeom>
          <a:noFill/>
          <a:ln/>
        </p:spPr>
        <p:txBody>
          <a:bodyPr wrap="square" lIns="0" tIns="101598" rIns="0" bIns="0" rtlCol="0" anchor="t">
            <a:normAutofit/>
          </a:bodyPr>
          <a:lstStyle/>
          <a:p>
            <a:pPr marL="0" indent="0" algn="l">
              <a:lnSpc>
                <a:spcPct val="103000"/>
              </a:lnSpc>
              <a:buNone/>
            </a:pPr>
            <a:r>
              <a:rPr lang="en-US" sz="1150" dirty="0">
                <a:solidFill>
                  <a:srgbClr val="FFFFFF"/>
                </a:solidFill>
                <a:latin typeface="Red Hat Mono Medium" pitchFamily="34" charset="0"/>
                <a:ea typeface="Red Hat Mono Medium" pitchFamily="34" charset="-122"/>
                <a:cs typeface="Red Hat Mono Medium" pitchFamily="34" charset="-120"/>
              </a:rPr>
              <a:t>CONFIGURE RULES · VALIDATE BOUNDARIES</a:t>
            </a:r>
            <a:endParaRPr lang="en-US" sz="1150" dirty="0"/>
          </a:p>
        </p:txBody>
      </p:sp>
      <p:sp>
        <p:nvSpPr>
          <p:cNvPr id="6" name="Shape 4"/>
          <p:cNvSpPr/>
          <p:nvPr/>
        </p:nvSpPr>
        <p:spPr>
          <a:xfrm>
            <a:off x="507987" y="5911652"/>
            <a:ext cx="88799" cy="69751"/>
          </a:xfrm>
          <a:prstGeom prst="rect">
            <a:avLst/>
          </a:prstGeom>
          <a:solidFill>
            <a:srgbClr val="24180F"/>
          </a:solidFill>
          <a:ln/>
        </p:spPr>
      </p:sp>
      <p:sp>
        <p:nvSpPr>
          <p:cNvPr id="7" name="Text 5"/>
          <p:cNvSpPr/>
          <p:nvPr/>
        </p:nvSpPr>
        <p:spPr>
          <a:xfrm>
            <a:off x="4444889" y="455065"/>
            <a:ext cx="7315017" cy="981273"/>
          </a:xfrm>
          <a:prstGeom prst="rect">
            <a:avLst/>
          </a:prstGeom>
          <a:noFill/>
          <a:ln/>
        </p:spPr>
        <p:txBody>
          <a:bodyPr wrap="square" lIns="0" tIns="0" rIns="0" bIns="0" rtlCol="0" anchor="t">
            <a:normAutofit lnSpcReduction="10000"/>
          </a:bodyPr>
          <a:lstStyle/>
          <a:p>
            <a:pPr marL="0" indent="0" algn="l">
              <a:lnSpc>
                <a:spcPct val="77000"/>
              </a:lnSpc>
              <a:buNone/>
            </a:pPr>
            <a:r>
              <a:rPr lang="en-US" sz="4200" kern="100" spc="-126" dirty="0">
                <a:solidFill>
                  <a:srgbClr val="24180F"/>
                </a:solidFill>
                <a:latin typeface="Big Shoulders ExtraBold" pitchFamily="34" charset="0"/>
                <a:ea typeface="Big Shoulders ExtraBold" pitchFamily="34" charset="-122"/>
                <a:cs typeface="Big Shoulders ExtraBold" pitchFamily="34" charset="-120"/>
              </a:rPr>
              <a:t>MODULAR COMPONENTS MAKE THE APPROACH ADAPTABLE</a:t>
            </a:r>
            <a:endParaRPr lang="en-US" sz="4200" dirty="0"/>
          </a:p>
        </p:txBody>
      </p:sp>
      <p:sp>
        <p:nvSpPr>
          <p:cNvPr id="8" name="Text 6"/>
          <p:cNvSpPr/>
          <p:nvPr/>
        </p:nvSpPr>
        <p:spPr>
          <a:xfrm>
            <a:off x="4444889" y="1532263"/>
            <a:ext cx="7315017" cy="595709"/>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Separate the journey into components that can be configured and validated independently.</a:t>
            </a:r>
            <a:endParaRPr lang="en-US" sz="1700" dirty="0"/>
          </a:p>
        </p:txBody>
      </p:sp>
      <p:pic>
        <p:nvPicPr>
          <p:cNvPr id="9" name="Image 0" descr="preencoded.png"/>
          <p:cNvPicPr>
            <a:picLocks noChangeAspect="1"/>
          </p:cNvPicPr>
          <p:nvPr/>
        </p:nvPicPr>
        <p:blipFill>
          <a:blip r:embed="rId3"/>
          <a:stretch>
            <a:fillRect/>
          </a:stretch>
        </p:blipFill>
        <p:spPr>
          <a:xfrm>
            <a:off x="4444889" y="2253258"/>
            <a:ext cx="6434473" cy="3619401"/>
          </a:xfrm>
          <a:prstGeom prst="rect">
            <a:avLst/>
          </a:prstGeom>
        </p:spPr>
      </p:pic>
      <p:sp>
        <p:nvSpPr>
          <p:cNvPr id="10" name="Text 7"/>
          <p:cNvSpPr/>
          <p:nvPr/>
        </p:nvSpPr>
        <p:spPr>
          <a:xfrm>
            <a:off x="4444889" y="5949621"/>
            <a:ext cx="7315017" cy="295374"/>
          </a:xfrm>
          <a:prstGeom prst="rect">
            <a:avLst/>
          </a:prstGeom>
          <a:noFill/>
          <a:ln/>
        </p:spPr>
        <p:txBody>
          <a:bodyPr wrap="square" lIns="0" tIns="101598" rIns="0" bIns="0" rtlCol="0" anchor="t">
            <a:normAutofit/>
          </a:bodyPr>
          <a:lstStyle/>
          <a:p>
            <a:pPr marL="0" indent="0" algn="l">
              <a:lnSpc>
                <a:spcPct val="103000"/>
              </a:lnSpc>
              <a:buNone/>
            </a:pPr>
            <a:r>
              <a:rPr lang="en-US" sz="1150" dirty="0">
                <a:solidFill>
                  <a:srgbClr val="6A5545"/>
                </a:solidFill>
                <a:latin typeface="Red Hat Mono Medium" pitchFamily="34" charset="0"/>
                <a:ea typeface="Red Hat Mono Medium" pitchFamily="34" charset="-122"/>
                <a:cs typeface="Red Hat Mono Medium" pitchFamily="34" charset="-120"/>
              </a:rPr>
              <a:t>PROPOSED BOUNDARY · TRAIN, STATION, CLASS, AND FARE RULES REMAIN CONFIGURABLE</a:t>
            </a:r>
            <a:endParaRPr lang="en-US" sz="1150" dirty="0"/>
          </a:p>
        </p:txBody>
      </p:sp>
      <p:sp>
        <p:nvSpPr>
          <p:cNvPr id="11" name="Shape 8"/>
          <p:cNvSpPr/>
          <p:nvPr/>
        </p:nvSpPr>
        <p:spPr>
          <a:xfrm>
            <a:off x="4444889" y="5955209"/>
            <a:ext cx="88799" cy="69751"/>
          </a:xfrm>
          <a:prstGeom prst="rect">
            <a:avLst/>
          </a:prstGeom>
          <a:solidFill>
            <a:srgbClr val="24180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62344"/>
            <a:ext cx="11734506" cy="188913"/>
          </a:xfrm>
          <a:prstGeom prst="rect">
            <a:avLst/>
          </a:prstGeom>
          <a:noFill/>
          <a:ln/>
        </p:spPr>
        <p:txBody>
          <a:bodyPr wrap="none" lIns="0" tIns="0" rIns="0" bIns="0" rtlCol="0" anchor="t"/>
          <a:lstStyle/>
          <a:p>
            <a:pPr marL="0" indent="0" algn="l">
              <a:lnSpc>
                <a:spcPct val="103000"/>
              </a:lnSpc>
              <a:buNone/>
            </a:pPr>
            <a:r>
              <a:rPr lang="en-US" sz="1200" kern="100" spc="90" dirty="0">
                <a:solidFill>
                  <a:srgbClr val="0B6B6A"/>
                </a:solidFill>
                <a:latin typeface="Red Hat Mono SemiBold" pitchFamily="34" charset="0"/>
                <a:ea typeface="Red Hat Mono SemiBold" pitchFamily="34" charset="-122"/>
                <a:cs typeface="Red Hat Mono SemiBold" pitchFamily="34" charset="-120"/>
              </a:rPr>
              <a:t>EVALUATION PLAN</a:t>
            </a:r>
            <a:endParaRPr lang="en-US" sz="1200" dirty="0"/>
          </a:p>
        </p:txBody>
      </p:sp>
      <p:sp>
        <p:nvSpPr>
          <p:cNvPr id="3" name="Text 1"/>
          <p:cNvSpPr/>
          <p:nvPr/>
        </p:nvSpPr>
        <p:spPr>
          <a:xfrm>
            <a:off x="457189" y="790027"/>
            <a:ext cx="11277318" cy="490637"/>
          </a:xfrm>
          <a:prstGeom prst="rect">
            <a:avLst/>
          </a:prstGeom>
          <a:noFill/>
          <a:ln/>
        </p:spPr>
        <p:txBody>
          <a:bodyPr wrap="none" lIns="0" tIns="0" rIns="0" bIns="0" rtlCol="0" anchor="t"/>
          <a:lstStyle/>
          <a:p>
            <a:pPr marL="0" indent="0" algn="l">
              <a:lnSpc>
                <a:spcPct val="77000"/>
              </a:lnSpc>
              <a:buNone/>
            </a:pPr>
            <a:r>
              <a:rPr lang="en-US" sz="4200" kern="100" spc="-126" dirty="0">
                <a:solidFill>
                  <a:srgbClr val="24180F"/>
                </a:solidFill>
                <a:latin typeface="Big Shoulders ExtraBold" pitchFamily="34" charset="0"/>
                <a:ea typeface="Big Shoulders ExtraBold" pitchFamily="34" charset="-122"/>
                <a:cs typeface="Big Shoulders ExtraBold" pitchFamily="34" charset="-120"/>
              </a:rPr>
              <a:t>EVALUATE THE METHOD WITH TASKS, NOT INVENTED RESULTS</a:t>
            </a:r>
            <a:endParaRPr lang="en-US" sz="4200" dirty="0"/>
          </a:p>
        </p:txBody>
      </p:sp>
      <p:sp>
        <p:nvSpPr>
          <p:cNvPr id="4" name="Text 2"/>
          <p:cNvSpPr/>
          <p:nvPr/>
        </p:nvSpPr>
        <p:spPr>
          <a:xfrm>
            <a:off x="457189" y="1381986"/>
            <a:ext cx="11277318" cy="295374"/>
          </a:xfrm>
          <a:prstGeom prst="rect">
            <a:avLst/>
          </a:prstGeom>
          <a:noFill/>
          <a:ln/>
        </p:spPr>
        <p:txBody>
          <a:bodyPr wrap="square" lIns="0" tIns="101598" rIns="0" bIns="0" rtlCol="0" anchor="t">
            <a:normAutofit/>
          </a:bodyPr>
          <a:lstStyle/>
          <a:p>
            <a:pPr marL="0" indent="0" algn="l">
              <a:lnSpc>
                <a:spcPct val="103000"/>
              </a:lnSpc>
              <a:buNone/>
            </a:pPr>
            <a:r>
              <a:rPr lang="en-US" sz="1150" dirty="0">
                <a:solidFill>
                  <a:srgbClr val="6A5545"/>
                </a:solidFill>
                <a:latin typeface="Red Hat Mono Medium" pitchFamily="34" charset="0"/>
                <a:ea typeface="Red Hat Mono Medium" pitchFamily="34" charset="-122"/>
                <a:cs typeface="Red Hat Mono Medium" pitchFamily="34" charset="-120"/>
              </a:rPr>
              <a:t>Results remain placeholders until a real evaluation is conducted.</a:t>
            </a:r>
            <a:endParaRPr lang="en-US" sz="1150" dirty="0"/>
          </a:p>
        </p:txBody>
      </p:sp>
      <p:sp>
        <p:nvSpPr>
          <p:cNvPr id="5" name="Shape 3"/>
          <p:cNvSpPr/>
          <p:nvPr/>
        </p:nvSpPr>
        <p:spPr>
          <a:xfrm>
            <a:off x="457189" y="1387574"/>
            <a:ext cx="88799" cy="69751"/>
          </a:xfrm>
          <a:prstGeom prst="rect">
            <a:avLst/>
          </a:prstGeom>
          <a:solidFill>
            <a:srgbClr val="24180F"/>
          </a:solidFill>
          <a:ln/>
        </p:spPr>
      </p:sp>
      <p:sp>
        <p:nvSpPr>
          <p:cNvPr id="6" name="Text 4"/>
          <p:cNvSpPr/>
          <p:nvPr/>
        </p:nvSpPr>
        <p:spPr>
          <a:xfrm>
            <a:off x="457189" y="1829761"/>
            <a:ext cx="5638659" cy="181074"/>
          </a:xfrm>
          <a:prstGeom prst="rect">
            <a:avLst/>
          </a:prstGeom>
          <a:noFill/>
          <a:ln/>
        </p:spPr>
        <p:txBody>
          <a:bodyPr wrap="none" lIns="0" tIns="0" rIns="0" bIns="0" rtlCol="0" anchor="t"/>
          <a:lstStyle/>
          <a:p>
            <a:pPr marL="0" indent="0" algn="l">
              <a:lnSpc>
                <a:spcPct val="103000"/>
              </a:lnSpc>
              <a:buNone/>
            </a:pPr>
            <a:r>
              <a:rPr lang="en-US" sz="1150" dirty="0">
                <a:solidFill>
                  <a:srgbClr val="6A5545"/>
                </a:solidFill>
                <a:latin typeface="Red Hat Mono Medium" pitchFamily="34" charset="0"/>
                <a:ea typeface="Red Hat Mono Medium" pitchFamily="34" charset="-122"/>
                <a:cs typeface="Red Hat Mono Medium" pitchFamily="34" charset="-120"/>
              </a:rPr>
              <a:t>REPRESENTATIVE TASKS</a:t>
            </a:r>
            <a:endParaRPr lang="en-US" sz="1150" dirty="0"/>
          </a:p>
        </p:txBody>
      </p:sp>
      <p:sp>
        <p:nvSpPr>
          <p:cNvPr id="7" name="Shape 5"/>
          <p:cNvSpPr/>
          <p:nvPr/>
        </p:nvSpPr>
        <p:spPr>
          <a:xfrm>
            <a:off x="457189" y="2102148"/>
            <a:ext cx="391408" cy="391418"/>
          </a:xfrm>
          <a:prstGeom prst="ellipse">
            <a:avLst/>
          </a:prstGeom>
          <a:solidFill>
            <a:srgbClr val="0B6B6A"/>
          </a:solidFill>
          <a:ln w="12700">
            <a:solidFill>
              <a:srgbClr val="B7E0E0"/>
            </a:solidFill>
            <a:prstDash val="solid"/>
          </a:ln>
        </p:spPr>
      </p:sp>
      <p:sp>
        <p:nvSpPr>
          <p:cNvPr id="8" name="Text 6"/>
          <p:cNvSpPr/>
          <p:nvPr/>
        </p:nvSpPr>
        <p:spPr>
          <a:xfrm>
            <a:off x="523862" y="2189857"/>
            <a:ext cx="867646" cy="215900"/>
          </a:xfrm>
          <a:prstGeom prst="rect">
            <a:avLst/>
          </a:prstGeom>
          <a:noFill/>
          <a:ln/>
        </p:spPr>
        <p:txBody>
          <a:bodyPr wrap="none" lIns="0" tIns="0" rIns="0" bIns="0" rtlCol="0" anchor="t"/>
          <a:lstStyle/>
          <a:p>
            <a:pPr marL="0" indent="0" algn="l">
              <a:lnSpc>
                <a:spcPct val="83000"/>
              </a:lnSpc>
              <a:buNone/>
            </a:pPr>
            <a:r>
              <a:rPr lang="en-US" sz="1700" dirty="0">
                <a:solidFill>
                  <a:srgbClr val="FFFFFF"/>
                </a:solidFill>
                <a:latin typeface="Libre Franklin SemiBold" pitchFamily="34" charset="0"/>
                <a:ea typeface="Libre Franklin SemiBold" pitchFamily="34" charset="-122"/>
                <a:cs typeface="Libre Franklin SemiBold" pitchFamily="34" charset="-120"/>
              </a:rPr>
              <a:t>01</a:t>
            </a:r>
            <a:endParaRPr lang="en-US" sz="1700" dirty="0"/>
          </a:p>
        </p:txBody>
      </p:sp>
      <p:sp>
        <p:nvSpPr>
          <p:cNvPr id="9" name="Text 7"/>
          <p:cNvSpPr/>
          <p:nvPr/>
        </p:nvSpPr>
        <p:spPr>
          <a:xfrm>
            <a:off x="1064491" y="2151185"/>
            <a:ext cx="4802762"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Find a train</a:t>
            </a:r>
            <a:endParaRPr lang="en-US" sz="1900" dirty="0"/>
          </a:p>
        </p:txBody>
      </p:sp>
      <p:sp>
        <p:nvSpPr>
          <p:cNvPr id="10" name="Text 8"/>
          <p:cNvSpPr/>
          <p:nvPr/>
        </p:nvSpPr>
        <p:spPr>
          <a:xfrm>
            <a:off x="1064491" y="2555804"/>
            <a:ext cx="4802762" cy="297855"/>
          </a:xfrm>
          <a:prstGeom prst="rect">
            <a:avLst/>
          </a:prstGeom>
          <a:noFill/>
          <a:ln/>
        </p:spPr>
        <p:txBody>
          <a:bodyPr wrap="none" lIns="0" tIns="0" rIns="0" bIns="0" rtlCol="0" anchor="t"/>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Search by route, date, and class.</a:t>
            </a:r>
            <a:endParaRPr lang="en-US" sz="1700" dirty="0"/>
          </a:p>
        </p:txBody>
      </p:sp>
      <p:sp>
        <p:nvSpPr>
          <p:cNvPr id="11" name="Shape 9"/>
          <p:cNvSpPr/>
          <p:nvPr/>
        </p:nvSpPr>
        <p:spPr>
          <a:xfrm>
            <a:off x="457189" y="2851944"/>
            <a:ext cx="420280" cy="420291"/>
          </a:xfrm>
          <a:prstGeom prst="ellipse">
            <a:avLst/>
          </a:prstGeom>
          <a:solidFill>
            <a:srgbClr val="0B6B6A"/>
          </a:solidFill>
          <a:ln w="12700">
            <a:solidFill>
              <a:srgbClr val="B7E0E0"/>
            </a:solidFill>
            <a:prstDash val="solid"/>
          </a:ln>
        </p:spPr>
      </p:sp>
      <p:sp>
        <p:nvSpPr>
          <p:cNvPr id="12" name="Text 10"/>
          <p:cNvSpPr/>
          <p:nvPr/>
        </p:nvSpPr>
        <p:spPr>
          <a:xfrm>
            <a:off x="523862" y="2954139"/>
            <a:ext cx="896518" cy="215900"/>
          </a:xfrm>
          <a:prstGeom prst="rect">
            <a:avLst/>
          </a:prstGeom>
          <a:noFill/>
          <a:ln/>
        </p:spPr>
        <p:txBody>
          <a:bodyPr wrap="none" lIns="0" tIns="0" rIns="0" bIns="0" rtlCol="0" anchor="t"/>
          <a:lstStyle/>
          <a:p>
            <a:pPr marL="0" indent="0" algn="l">
              <a:lnSpc>
                <a:spcPct val="83000"/>
              </a:lnSpc>
              <a:buNone/>
            </a:pPr>
            <a:r>
              <a:rPr lang="en-US" sz="1700" dirty="0">
                <a:solidFill>
                  <a:srgbClr val="FFFFFF"/>
                </a:solidFill>
                <a:latin typeface="Libre Franklin SemiBold" pitchFamily="34" charset="0"/>
                <a:ea typeface="Libre Franklin SemiBold" pitchFamily="34" charset="-122"/>
                <a:cs typeface="Libre Franklin SemiBold" pitchFamily="34" charset="-120"/>
              </a:rPr>
              <a:t>02</a:t>
            </a:r>
            <a:endParaRPr lang="en-US" sz="1700" dirty="0"/>
          </a:p>
        </p:txBody>
      </p:sp>
      <p:sp>
        <p:nvSpPr>
          <p:cNvPr id="13" name="Text 11"/>
          <p:cNvSpPr/>
          <p:nvPr/>
        </p:nvSpPr>
        <p:spPr>
          <a:xfrm>
            <a:off x="1093363" y="2915467"/>
            <a:ext cx="4773890"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Compare availability</a:t>
            </a:r>
            <a:endParaRPr lang="en-US" sz="1900" dirty="0"/>
          </a:p>
        </p:txBody>
      </p:sp>
      <p:sp>
        <p:nvSpPr>
          <p:cNvPr id="14" name="Text 12"/>
          <p:cNvSpPr/>
          <p:nvPr/>
        </p:nvSpPr>
        <p:spPr>
          <a:xfrm>
            <a:off x="1093363" y="3320086"/>
            <a:ext cx="4773890" cy="297855"/>
          </a:xfrm>
          <a:prstGeom prst="rect">
            <a:avLst/>
          </a:prstGeom>
          <a:noFill/>
          <a:ln/>
        </p:spPr>
        <p:txBody>
          <a:bodyPr wrap="none" lIns="0" tIns="0" rIns="0" bIns="0" rtlCol="0" anchor="t"/>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Review options and fare information.</a:t>
            </a:r>
            <a:endParaRPr lang="en-US" sz="1700" dirty="0"/>
          </a:p>
        </p:txBody>
      </p:sp>
      <p:sp>
        <p:nvSpPr>
          <p:cNvPr id="15" name="Shape 13"/>
          <p:cNvSpPr/>
          <p:nvPr/>
        </p:nvSpPr>
        <p:spPr>
          <a:xfrm>
            <a:off x="457189" y="3616226"/>
            <a:ext cx="426828" cy="426839"/>
          </a:xfrm>
          <a:prstGeom prst="ellipse">
            <a:avLst/>
          </a:prstGeom>
          <a:solidFill>
            <a:srgbClr val="0B6B6A"/>
          </a:solidFill>
          <a:ln w="12700">
            <a:solidFill>
              <a:srgbClr val="B7E0E0"/>
            </a:solidFill>
            <a:prstDash val="solid"/>
          </a:ln>
        </p:spPr>
      </p:sp>
      <p:sp>
        <p:nvSpPr>
          <p:cNvPr id="16" name="Text 14"/>
          <p:cNvSpPr/>
          <p:nvPr/>
        </p:nvSpPr>
        <p:spPr>
          <a:xfrm>
            <a:off x="523862" y="3721695"/>
            <a:ext cx="903066" cy="215900"/>
          </a:xfrm>
          <a:prstGeom prst="rect">
            <a:avLst/>
          </a:prstGeom>
          <a:noFill/>
          <a:ln/>
        </p:spPr>
        <p:txBody>
          <a:bodyPr wrap="none" lIns="0" tIns="0" rIns="0" bIns="0" rtlCol="0" anchor="t"/>
          <a:lstStyle/>
          <a:p>
            <a:pPr marL="0" indent="0" algn="l">
              <a:lnSpc>
                <a:spcPct val="83000"/>
              </a:lnSpc>
              <a:buNone/>
            </a:pPr>
            <a:r>
              <a:rPr lang="en-US" sz="1700" dirty="0">
                <a:solidFill>
                  <a:srgbClr val="FFFFFF"/>
                </a:solidFill>
                <a:latin typeface="Libre Franklin SemiBold" pitchFamily="34" charset="0"/>
                <a:ea typeface="Libre Franklin SemiBold" pitchFamily="34" charset="-122"/>
                <a:cs typeface="Libre Franklin SemiBold" pitchFamily="34" charset="-120"/>
              </a:rPr>
              <a:t>03</a:t>
            </a:r>
            <a:endParaRPr lang="en-US" sz="1700" dirty="0"/>
          </a:p>
        </p:txBody>
      </p:sp>
      <p:sp>
        <p:nvSpPr>
          <p:cNvPr id="17" name="Text 15"/>
          <p:cNvSpPr/>
          <p:nvPr/>
        </p:nvSpPr>
        <p:spPr>
          <a:xfrm>
            <a:off x="1099912" y="3683024"/>
            <a:ext cx="4767342"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Reserve a seat</a:t>
            </a:r>
            <a:endParaRPr lang="en-US" sz="1900" dirty="0"/>
          </a:p>
        </p:txBody>
      </p:sp>
      <p:sp>
        <p:nvSpPr>
          <p:cNvPr id="18" name="Text 16"/>
          <p:cNvSpPr/>
          <p:nvPr/>
        </p:nvSpPr>
        <p:spPr>
          <a:xfrm>
            <a:off x="1099912" y="4087642"/>
            <a:ext cx="4767342" cy="297855"/>
          </a:xfrm>
          <a:prstGeom prst="rect">
            <a:avLst/>
          </a:prstGeom>
          <a:noFill/>
          <a:ln/>
        </p:spPr>
        <p:txBody>
          <a:bodyPr wrap="none" lIns="0" tIns="0" rIns="0" bIns="0" rtlCol="0" anchor="t"/>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Enter details and complete payment.</a:t>
            </a:r>
            <a:endParaRPr lang="en-US" sz="1700" dirty="0"/>
          </a:p>
        </p:txBody>
      </p:sp>
      <p:sp>
        <p:nvSpPr>
          <p:cNvPr id="19" name="Shape 17"/>
          <p:cNvSpPr/>
          <p:nvPr/>
        </p:nvSpPr>
        <p:spPr>
          <a:xfrm>
            <a:off x="457189" y="4383782"/>
            <a:ext cx="430499" cy="430510"/>
          </a:xfrm>
          <a:prstGeom prst="ellipse">
            <a:avLst/>
          </a:prstGeom>
          <a:solidFill>
            <a:srgbClr val="0B6B6A"/>
          </a:solidFill>
          <a:ln w="12700">
            <a:solidFill>
              <a:srgbClr val="B7E0E0"/>
            </a:solidFill>
            <a:prstDash val="solid"/>
          </a:ln>
        </p:spPr>
      </p:sp>
      <p:sp>
        <p:nvSpPr>
          <p:cNvPr id="20" name="Text 18"/>
          <p:cNvSpPr/>
          <p:nvPr/>
        </p:nvSpPr>
        <p:spPr>
          <a:xfrm>
            <a:off x="523862" y="4491038"/>
            <a:ext cx="906737" cy="215900"/>
          </a:xfrm>
          <a:prstGeom prst="rect">
            <a:avLst/>
          </a:prstGeom>
          <a:noFill/>
          <a:ln/>
        </p:spPr>
        <p:txBody>
          <a:bodyPr wrap="none" lIns="0" tIns="0" rIns="0" bIns="0" rtlCol="0" anchor="t"/>
          <a:lstStyle/>
          <a:p>
            <a:pPr marL="0" indent="0" algn="l">
              <a:lnSpc>
                <a:spcPct val="83000"/>
              </a:lnSpc>
              <a:buNone/>
            </a:pPr>
            <a:r>
              <a:rPr lang="en-US" sz="1700" dirty="0">
                <a:solidFill>
                  <a:srgbClr val="FFFFFF"/>
                </a:solidFill>
                <a:latin typeface="Libre Franklin SemiBold" pitchFamily="34" charset="0"/>
                <a:ea typeface="Libre Franklin SemiBold" pitchFamily="34" charset="-122"/>
                <a:cs typeface="Libre Franklin SemiBold" pitchFamily="34" charset="-120"/>
              </a:rPr>
              <a:t>04</a:t>
            </a:r>
            <a:endParaRPr lang="en-US" sz="1700" dirty="0"/>
          </a:p>
        </p:txBody>
      </p:sp>
      <p:sp>
        <p:nvSpPr>
          <p:cNvPr id="21" name="Text 19"/>
          <p:cNvSpPr/>
          <p:nvPr/>
        </p:nvSpPr>
        <p:spPr>
          <a:xfrm>
            <a:off x="1103583" y="4452366"/>
            <a:ext cx="4763671"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Retrieve a ticket</a:t>
            </a:r>
            <a:endParaRPr lang="en-US" sz="1900" dirty="0"/>
          </a:p>
        </p:txBody>
      </p:sp>
      <p:sp>
        <p:nvSpPr>
          <p:cNvPr id="22" name="Text 20"/>
          <p:cNvSpPr/>
          <p:nvPr/>
        </p:nvSpPr>
        <p:spPr>
          <a:xfrm>
            <a:off x="1103583" y="4856984"/>
            <a:ext cx="4763671" cy="297855"/>
          </a:xfrm>
          <a:prstGeom prst="rect">
            <a:avLst/>
          </a:prstGeom>
          <a:noFill/>
          <a:ln/>
        </p:spPr>
        <p:txBody>
          <a:bodyPr wrap="none" lIns="0" tIns="0" rIns="0" bIns="0" rtlCol="0" anchor="t"/>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Locate the e-ticket after booking.</a:t>
            </a:r>
            <a:endParaRPr lang="en-US" sz="1700" dirty="0"/>
          </a:p>
        </p:txBody>
      </p:sp>
      <p:sp>
        <p:nvSpPr>
          <p:cNvPr id="23" name="Text 21"/>
          <p:cNvSpPr/>
          <p:nvPr/>
        </p:nvSpPr>
        <p:spPr>
          <a:xfrm>
            <a:off x="6324442" y="1829761"/>
            <a:ext cx="5410065" cy="181074"/>
          </a:xfrm>
          <a:prstGeom prst="rect">
            <a:avLst/>
          </a:prstGeom>
          <a:noFill/>
          <a:ln/>
        </p:spPr>
        <p:txBody>
          <a:bodyPr wrap="none" lIns="0" tIns="0" rIns="0" bIns="0" rtlCol="0" anchor="t"/>
          <a:lstStyle/>
          <a:p>
            <a:pPr marL="0" indent="0" algn="l">
              <a:lnSpc>
                <a:spcPct val="103000"/>
              </a:lnSpc>
              <a:buNone/>
            </a:pPr>
            <a:r>
              <a:rPr lang="en-US" sz="1150" dirty="0">
                <a:solidFill>
                  <a:srgbClr val="6A5545"/>
                </a:solidFill>
                <a:latin typeface="Red Hat Mono Medium" pitchFamily="34" charset="0"/>
                <a:ea typeface="Red Hat Mono Medium" pitchFamily="34" charset="-122"/>
                <a:cs typeface="Red Hat Mono Medium" pitchFamily="34" charset="-120"/>
              </a:rPr>
              <a:t>MEASURES TO REPORT</a:t>
            </a:r>
            <a:endParaRPr lang="en-US" sz="1150" dirty="0"/>
          </a:p>
        </p:txBody>
      </p:sp>
      <p:sp>
        <p:nvSpPr>
          <p:cNvPr id="24" name="Text 22"/>
          <p:cNvSpPr/>
          <p:nvPr/>
        </p:nvSpPr>
        <p:spPr>
          <a:xfrm>
            <a:off x="6324442" y="2114276"/>
            <a:ext cx="5410065"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Completion</a:t>
            </a:r>
            <a:endParaRPr lang="en-US" sz="1900" dirty="0"/>
          </a:p>
        </p:txBody>
      </p:sp>
      <p:sp>
        <p:nvSpPr>
          <p:cNvPr id="25" name="Text 23"/>
          <p:cNvSpPr/>
          <p:nvPr/>
        </p:nvSpPr>
        <p:spPr>
          <a:xfrm>
            <a:off x="6324442" y="2518894"/>
            <a:ext cx="5410065" cy="297855"/>
          </a:xfrm>
          <a:prstGeom prst="rect">
            <a:avLst/>
          </a:prstGeom>
          <a:noFill/>
          <a:ln/>
        </p:spPr>
        <p:txBody>
          <a:bodyPr wrap="none" lIns="0" tIns="0" rIns="0" bIns="0" rtlCol="0" anchor="t"/>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Whether participants finish each task.</a:t>
            </a:r>
            <a:endParaRPr lang="en-US" sz="1700" dirty="0"/>
          </a:p>
        </p:txBody>
      </p:sp>
      <p:sp>
        <p:nvSpPr>
          <p:cNvPr id="26" name="Text 24"/>
          <p:cNvSpPr/>
          <p:nvPr/>
        </p:nvSpPr>
        <p:spPr>
          <a:xfrm>
            <a:off x="6324442" y="2827163"/>
            <a:ext cx="5410065"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Errors</a:t>
            </a:r>
            <a:endParaRPr lang="en-US" sz="1900" dirty="0"/>
          </a:p>
        </p:txBody>
      </p:sp>
      <p:sp>
        <p:nvSpPr>
          <p:cNvPr id="27" name="Text 25"/>
          <p:cNvSpPr/>
          <p:nvPr/>
        </p:nvSpPr>
        <p:spPr>
          <a:xfrm>
            <a:off x="6324442" y="3231781"/>
            <a:ext cx="5410065" cy="297855"/>
          </a:xfrm>
          <a:prstGeom prst="rect">
            <a:avLst/>
          </a:prstGeom>
          <a:noFill/>
          <a:ln/>
        </p:spPr>
        <p:txBody>
          <a:bodyPr wrap="none" lIns="0" tIns="0" rIns="0" bIns="0" rtlCol="0" anchor="t"/>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Where confusion or recovery occurs.</a:t>
            </a:r>
            <a:endParaRPr lang="en-US" sz="1700" dirty="0"/>
          </a:p>
        </p:txBody>
      </p:sp>
      <p:sp>
        <p:nvSpPr>
          <p:cNvPr id="28" name="Text 26"/>
          <p:cNvSpPr/>
          <p:nvPr/>
        </p:nvSpPr>
        <p:spPr>
          <a:xfrm>
            <a:off x="6324442" y="3540050"/>
            <a:ext cx="5410065"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Time</a:t>
            </a:r>
            <a:endParaRPr lang="en-US" sz="1900" dirty="0"/>
          </a:p>
        </p:txBody>
      </p:sp>
      <p:sp>
        <p:nvSpPr>
          <p:cNvPr id="29" name="Text 27"/>
          <p:cNvSpPr/>
          <p:nvPr/>
        </p:nvSpPr>
        <p:spPr>
          <a:xfrm>
            <a:off x="6324442" y="3944668"/>
            <a:ext cx="5410065" cy="297855"/>
          </a:xfrm>
          <a:prstGeom prst="rect">
            <a:avLst/>
          </a:prstGeom>
          <a:noFill/>
          <a:ln/>
        </p:spPr>
        <p:txBody>
          <a:bodyPr wrap="none" lIns="0" tIns="0" rIns="0" bIns="0" rtlCol="0" anchor="t"/>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How long each task takes.</a:t>
            </a:r>
            <a:endParaRPr lang="en-US" sz="1700" dirty="0"/>
          </a:p>
        </p:txBody>
      </p:sp>
      <p:sp>
        <p:nvSpPr>
          <p:cNvPr id="30" name="Text 28"/>
          <p:cNvSpPr/>
          <p:nvPr/>
        </p:nvSpPr>
        <p:spPr>
          <a:xfrm>
            <a:off x="6324442" y="4252936"/>
            <a:ext cx="5410065"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Reported ease</a:t>
            </a:r>
            <a:endParaRPr lang="en-US" sz="1900" dirty="0"/>
          </a:p>
        </p:txBody>
      </p:sp>
      <p:sp>
        <p:nvSpPr>
          <p:cNvPr id="31" name="Text 29"/>
          <p:cNvSpPr/>
          <p:nvPr/>
        </p:nvSpPr>
        <p:spPr>
          <a:xfrm>
            <a:off x="6324442" y="4657554"/>
            <a:ext cx="5410065" cy="297855"/>
          </a:xfrm>
          <a:prstGeom prst="rect">
            <a:avLst/>
          </a:prstGeom>
          <a:noFill/>
          <a:ln/>
        </p:spPr>
        <p:txBody>
          <a:bodyPr wrap="none" lIns="0" tIns="0" rIns="0" bIns="0" rtlCol="0" anchor="t"/>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What users say about the experience.</a:t>
            </a:r>
            <a:endParaRPr lang="en-US" sz="1700" dirty="0"/>
          </a:p>
        </p:txBody>
      </p:sp>
      <p:sp>
        <p:nvSpPr>
          <p:cNvPr id="32" name="Text 30"/>
          <p:cNvSpPr/>
          <p:nvPr/>
        </p:nvSpPr>
        <p:spPr>
          <a:xfrm>
            <a:off x="457189" y="6112538"/>
            <a:ext cx="11277318" cy="295374"/>
          </a:xfrm>
          <a:prstGeom prst="rect">
            <a:avLst/>
          </a:prstGeom>
          <a:noFill/>
          <a:ln/>
        </p:spPr>
        <p:txBody>
          <a:bodyPr wrap="square" lIns="0" tIns="101598" rIns="0" bIns="0" rtlCol="0" anchor="t">
            <a:normAutofit/>
          </a:bodyPr>
          <a:lstStyle/>
          <a:p>
            <a:pPr marL="0" indent="0" algn="l">
              <a:lnSpc>
                <a:spcPct val="103000"/>
              </a:lnSpc>
              <a:buNone/>
            </a:pPr>
            <a:r>
              <a:rPr lang="en-US" sz="1150" dirty="0">
                <a:solidFill>
                  <a:srgbClr val="6A5545"/>
                </a:solidFill>
                <a:latin typeface="Red Hat Mono Medium" pitchFamily="34" charset="0"/>
                <a:ea typeface="Red Hat Mono Medium" pitchFamily="34" charset="-122"/>
                <a:cs typeface="Red Hat Mono Medium" pitchFamily="34" charset="-120"/>
              </a:rPr>
              <a:t>REPORT SAMPLE, METHOD, TASK SCRIPT, AND RESULTS TOGETHER</a:t>
            </a:r>
            <a:endParaRPr lang="en-US" sz="1150" dirty="0"/>
          </a:p>
        </p:txBody>
      </p:sp>
      <p:sp>
        <p:nvSpPr>
          <p:cNvPr id="33" name="Shape 31"/>
          <p:cNvSpPr/>
          <p:nvPr/>
        </p:nvSpPr>
        <p:spPr>
          <a:xfrm>
            <a:off x="457189" y="6118126"/>
            <a:ext cx="88799" cy="69751"/>
          </a:xfrm>
          <a:prstGeom prst="rect">
            <a:avLst/>
          </a:prstGeom>
          <a:solidFill>
            <a:srgbClr val="24180F"/>
          </a:solidFill>
          <a:ln/>
        </p:spPr>
      </p:sp>
      <p:sp>
        <p:nvSpPr>
          <p:cNvPr id="34" name="Shape 32"/>
          <p:cNvSpPr/>
          <p:nvPr/>
        </p:nvSpPr>
        <p:spPr>
          <a:xfrm>
            <a:off x="6089498" y="1822648"/>
            <a:ext cx="12700" cy="4130377"/>
          </a:xfrm>
          <a:prstGeom prst="rect">
            <a:avLst/>
          </a:prstGeom>
          <a:solidFill>
            <a:srgbClr val="D4BEAA"/>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0383" y="233744"/>
            <a:ext cx="6603835" cy="188913"/>
          </a:xfrm>
          <a:prstGeom prst="rect">
            <a:avLst/>
          </a:prstGeom>
          <a:noFill/>
          <a:ln/>
        </p:spPr>
        <p:txBody>
          <a:bodyPr wrap="none" lIns="0" tIns="0" rIns="0" bIns="0" rtlCol="0" anchor="t"/>
          <a:lstStyle/>
          <a:p>
            <a:pPr marL="0" indent="0" algn="l">
              <a:lnSpc>
                <a:spcPct val="103000"/>
              </a:lnSpc>
              <a:buNone/>
            </a:pPr>
            <a:r>
              <a:rPr lang="en-US" sz="1200" kern="100" spc="90" dirty="0">
                <a:solidFill>
                  <a:srgbClr val="0B6B6A"/>
                </a:solidFill>
                <a:latin typeface="Red Hat Mono SemiBold" pitchFamily="34" charset="0"/>
                <a:ea typeface="Red Hat Mono SemiBold" pitchFamily="34" charset="-122"/>
                <a:cs typeface="Red Hat Mono SemiBold" pitchFamily="34" charset="-120"/>
              </a:rPr>
              <a:t>RECOMMENDATIONS</a:t>
            </a:r>
            <a:endParaRPr lang="en-US" sz="1200" dirty="0"/>
          </a:p>
        </p:txBody>
      </p:sp>
      <p:sp>
        <p:nvSpPr>
          <p:cNvPr id="3" name="Text 1"/>
          <p:cNvSpPr/>
          <p:nvPr/>
        </p:nvSpPr>
        <p:spPr>
          <a:xfrm>
            <a:off x="660383" y="561427"/>
            <a:ext cx="5994250" cy="1471910"/>
          </a:xfrm>
          <a:prstGeom prst="rect">
            <a:avLst/>
          </a:prstGeom>
          <a:noFill/>
          <a:ln/>
        </p:spPr>
        <p:txBody>
          <a:bodyPr wrap="square" lIns="0" tIns="0" rIns="0" bIns="0" rtlCol="0" anchor="t">
            <a:normAutofit lnSpcReduction="10000"/>
          </a:bodyPr>
          <a:lstStyle/>
          <a:p>
            <a:pPr marL="0" indent="0" algn="l">
              <a:lnSpc>
                <a:spcPct val="77000"/>
              </a:lnSpc>
              <a:buNone/>
            </a:pPr>
            <a:r>
              <a:rPr lang="en-US" sz="4200" kern="100" spc="-126" dirty="0">
                <a:solidFill>
                  <a:srgbClr val="24180F"/>
                </a:solidFill>
                <a:latin typeface="Big Shoulders ExtraBold" pitchFamily="34" charset="0"/>
                <a:ea typeface="Big Shoulders ExtraBold" pitchFamily="34" charset="-122"/>
                <a:cs typeface="Big Shoulders ExtraBold" pitchFamily="34" charset="-120"/>
              </a:rPr>
              <a:t>ACCESSIBILITY AND DISSEMINATION BELONG IN THE DESIGN</a:t>
            </a:r>
            <a:endParaRPr lang="en-US" sz="4200" dirty="0"/>
          </a:p>
        </p:txBody>
      </p:sp>
      <p:sp>
        <p:nvSpPr>
          <p:cNvPr id="4" name="Text 2"/>
          <p:cNvSpPr/>
          <p:nvPr/>
        </p:nvSpPr>
        <p:spPr>
          <a:xfrm>
            <a:off x="660383" y="2130405"/>
            <a:ext cx="5994250" cy="700881"/>
          </a:xfrm>
          <a:prstGeom prst="rect">
            <a:avLst/>
          </a:prstGeom>
          <a:noFill/>
          <a:ln/>
        </p:spPr>
        <p:txBody>
          <a:bodyPr wrap="square" lIns="0" tIns="0" rIns="0" bIns="0" rtlCol="0" anchor="t">
            <a:normAutofit lnSpcReduction="10000"/>
          </a:bodyPr>
          <a:lstStyle/>
          <a:p>
            <a:pPr marL="0" indent="0" algn="l">
              <a:lnSpc>
                <a:spcPct val="115000"/>
              </a:lnSpc>
              <a:buNone/>
            </a:pPr>
            <a:r>
              <a:rPr lang="en-US" sz="2000" dirty="0">
                <a:solidFill>
                  <a:srgbClr val="24180F"/>
                </a:solidFill>
                <a:latin typeface="Libre Franklin" pitchFamily="34" charset="0"/>
                <a:ea typeface="Libre Franklin" pitchFamily="34" charset="-122"/>
                <a:cs typeface="Libre Franklin" pitchFamily="34" charset="-120"/>
              </a:rPr>
              <a:t>Design for readable interaction, then make the proposal easy to inspect and share.</a:t>
            </a:r>
            <a:endParaRPr lang="en-US" sz="2000" dirty="0"/>
          </a:p>
        </p:txBody>
      </p:sp>
      <p:sp>
        <p:nvSpPr>
          <p:cNvPr id="5" name="Text 3"/>
          <p:cNvSpPr/>
          <p:nvPr/>
        </p:nvSpPr>
        <p:spPr>
          <a:xfrm>
            <a:off x="660383" y="3170757"/>
            <a:ext cx="5994250"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Accessible interaction</a:t>
            </a:r>
            <a:endParaRPr lang="en-US" sz="1900" dirty="0"/>
          </a:p>
        </p:txBody>
      </p:sp>
      <p:sp>
        <p:nvSpPr>
          <p:cNvPr id="6" name="Text 4"/>
          <p:cNvSpPr/>
          <p:nvPr/>
        </p:nvSpPr>
        <p:spPr>
          <a:xfrm>
            <a:off x="660383" y="3575375"/>
            <a:ext cx="5994250" cy="595709"/>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Readable layouts, keyboard-friendly navigation, clear status messages, and plain-language error recovery.</a:t>
            </a:r>
            <a:endParaRPr lang="en-US" sz="1700" dirty="0"/>
          </a:p>
        </p:txBody>
      </p:sp>
      <p:sp>
        <p:nvSpPr>
          <p:cNvPr id="7" name="Text 5"/>
          <p:cNvSpPr/>
          <p:nvPr/>
        </p:nvSpPr>
        <p:spPr>
          <a:xfrm>
            <a:off x="660383" y="4486299"/>
            <a:ext cx="5994250" cy="294382"/>
          </a:xfrm>
          <a:prstGeom prst="rect">
            <a:avLst/>
          </a:prstGeom>
          <a:noFill/>
          <a:ln/>
        </p:spPr>
        <p:txBody>
          <a:bodyPr wrap="none" lIns="0" tIns="0" rIns="0" bIns="0" rtlCol="0" anchor="t"/>
          <a:lstStyle/>
          <a:p>
            <a:pPr marL="0" indent="0" algn="l">
              <a:lnSpc>
                <a:spcPct val="102000"/>
              </a:lnSpc>
              <a:buNone/>
            </a:pPr>
            <a:r>
              <a:rPr lang="en-US" sz="1900" dirty="0">
                <a:solidFill>
                  <a:srgbClr val="24180F"/>
                </a:solidFill>
                <a:latin typeface="Libre Franklin Medium" pitchFamily="34" charset="0"/>
                <a:ea typeface="Libre Franklin Medium" pitchFamily="34" charset="-122"/>
                <a:cs typeface="Libre Franklin Medium" pitchFamily="34" charset="-120"/>
              </a:rPr>
              <a:t>Accessible dissemination</a:t>
            </a:r>
            <a:endParaRPr lang="en-US" sz="1900" dirty="0"/>
          </a:p>
        </p:txBody>
      </p:sp>
      <p:sp>
        <p:nvSpPr>
          <p:cNvPr id="8" name="Text 6"/>
          <p:cNvSpPr/>
          <p:nvPr/>
        </p:nvSpPr>
        <p:spPr>
          <a:xfrm>
            <a:off x="660383" y="4890917"/>
            <a:ext cx="5994250" cy="595709"/>
          </a:xfrm>
          <a:prstGeom prst="rect">
            <a:avLst/>
          </a:prstGeom>
          <a:noFill/>
          <a:ln/>
        </p:spPr>
        <p:txBody>
          <a:bodyPr wrap="square" lIns="0" tIns="0" rIns="0" bIns="0" rtlCol="0" anchor="t">
            <a:normAutofit lnSpcReduction="10000"/>
          </a:bodyPr>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Share a short demo, architecture summary, and accessible project report.</a:t>
            </a:r>
            <a:endParaRPr lang="en-US" sz="1700" dirty="0"/>
          </a:p>
        </p:txBody>
      </p:sp>
      <p:sp>
        <p:nvSpPr>
          <p:cNvPr id="9" name="Text 7"/>
          <p:cNvSpPr/>
          <p:nvPr/>
        </p:nvSpPr>
        <p:spPr>
          <a:xfrm>
            <a:off x="660383" y="5796824"/>
            <a:ext cx="5994250" cy="295374"/>
          </a:xfrm>
          <a:prstGeom prst="rect">
            <a:avLst/>
          </a:prstGeom>
          <a:noFill/>
          <a:ln/>
        </p:spPr>
        <p:txBody>
          <a:bodyPr wrap="square" lIns="0" tIns="101598" rIns="0" bIns="0" rtlCol="0" anchor="t">
            <a:normAutofit/>
          </a:bodyPr>
          <a:lstStyle/>
          <a:p>
            <a:pPr marL="0" indent="0" algn="l">
              <a:lnSpc>
                <a:spcPct val="103000"/>
              </a:lnSpc>
              <a:buNone/>
            </a:pPr>
            <a:r>
              <a:rPr lang="en-US" sz="1150" dirty="0">
                <a:solidFill>
                  <a:srgbClr val="6A5545"/>
                </a:solidFill>
                <a:latin typeface="Red Hat Mono Medium" pitchFamily="34" charset="0"/>
                <a:ea typeface="Red Hat Mono Medium" pitchFamily="34" charset="-122"/>
                <a:cs typeface="Red Hat Mono Medium" pitchFamily="34" charset="-120"/>
              </a:rPr>
              <a:t>STATUS</a:t>
            </a:r>
            <a:endParaRPr lang="en-US" sz="1150" dirty="0"/>
          </a:p>
        </p:txBody>
      </p:sp>
      <p:sp>
        <p:nvSpPr>
          <p:cNvPr id="10" name="Shape 8"/>
          <p:cNvSpPr/>
          <p:nvPr/>
        </p:nvSpPr>
        <p:spPr>
          <a:xfrm>
            <a:off x="660383" y="5802412"/>
            <a:ext cx="88799" cy="69751"/>
          </a:xfrm>
          <a:prstGeom prst="rect">
            <a:avLst/>
          </a:prstGeom>
          <a:solidFill>
            <a:srgbClr val="24180F"/>
          </a:solidFill>
          <a:ln/>
        </p:spPr>
      </p:sp>
      <p:sp>
        <p:nvSpPr>
          <p:cNvPr id="11" name="Text 9"/>
          <p:cNvSpPr/>
          <p:nvPr/>
        </p:nvSpPr>
        <p:spPr>
          <a:xfrm>
            <a:off x="660383" y="6185225"/>
            <a:ext cx="5994250" cy="297855"/>
          </a:xfrm>
          <a:prstGeom prst="rect">
            <a:avLst/>
          </a:prstGeom>
          <a:noFill/>
          <a:ln/>
        </p:spPr>
        <p:txBody>
          <a:bodyPr wrap="none" lIns="0" tIns="0" rIns="0" bIns="0" rtlCol="0" anchor="t"/>
          <a:lstStyle/>
          <a:p>
            <a:pPr marL="0" indent="0" algn="l">
              <a:lnSpc>
                <a:spcPct val="115000"/>
              </a:lnSpc>
              <a:buNone/>
            </a:pPr>
            <a:r>
              <a:rPr lang="en-US" sz="1700" dirty="0">
                <a:solidFill>
                  <a:srgbClr val="24180F"/>
                </a:solidFill>
                <a:latin typeface="Libre Franklin" pitchFamily="34" charset="0"/>
                <a:ea typeface="Libre Franklin" pitchFamily="34" charset="-122"/>
                <a:cs typeface="Libre Franklin" pitchFamily="34" charset="-120"/>
              </a:rPr>
              <a:t>Recommendations unless implemented and tested.</a:t>
            </a:r>
            <a:endParaRPr lang="en-US" sz="1700" dirty="0"/>
          </a:p>
        </p:txBody>
      </p:sp>
      <p:pic>
        <p:nvPicPr>
          <p:cNvPr id="12" name="Image 0" descr="preencoded.png"/>
          <p:cNvPicPr>
            <a:picLocks noChangeAspect="1"/>
          </p:cNvPicPr>
          <p:nvPr/>
        </p:nvPicPr>
        <p:blipFill>
          <a:blip r:embed="rId3"/>
          <a:stretch>
            <a:fillRect/>
          </a:stretch>
        </p:blipFill>
        <p:spPr>
          <a:xfrm>
            <a:off x="7315017" y="0"/>
            <a:ext cx="4876678" cy="6858000"/>
          </a:xfrm>
          <a:prstGeom prst="rect">
            <a:avLst/>
          </a:prstGeom>
        </p:spPr>
      </p:pic>
      <p:sp>
        <p:nvSpPr>
          <p:cNvPr id="13" name="Shape 10"/>
          <p:cNvSpPr/>
          <p:nvPr/>
        </p:nvSpPr>
        <p:spPr>
          <a:xfrm>
            <a:off x="7315017" y="0"/>
            <a:ext cx="4876678" cy="6858000"/>
          </a:xfrm>
          <a:prstGeom prst="rect">
            <a:avLst/>
          </a:prstGeom>
          <a:solidFill>
            <a:srgbClr val="000000">
              <a:alpha val="18000"/>
            </a:srgbClr>
          </a:solidFill>
          <a:ln/>
        </p:spPr>
      </p:sp>
      <p:sp>
        <p:nvSpPr>
          <p:cNvPr id="14" name="Shape 11"/>
          <p:cNvSpPr/>
          <p:nvPr/>
        </p:nvSpPr>
        <p:spPr>
          <a:xfrm>
            <a:off x="660383" y="4315420"/>
            <a:ext cx="5994250" cy="12700"/>
          </a:xfrm>
          <a:prstGeom prst="rect">
            <a:avLst/>
          </a:prstGeom>
          <a:solidFill>
            <a:srgbClr val="D4BEAA"/>
          </a:solidFill>
          <a:ln/>
        </p:spPr>
      </p:sp>
      <p:sp>
        <p:nvSpPr>
          <p:cNvPr id="15" name="Shape 12"/>
          <p:cNvSpPr/>
          <p:nvPr/>
        </p:nvSpPr>
        <p:spPr>
          <a:xfrm>
            <a:off x="660383" y="5630962"/>
            <a:ext cx="5994250" cy="12700"/>
          </a:xfrm>
          <a:prstGeom prst="rect">
            <a:avLst/>
          </a:prstGeom>
          <a:solidFill>
            <a:srgbClr val="D4BEA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665</Words>
  <Application>Microsoft Office PowerPoint</Application>
  <PresentationFormat>Widescreen</PresentationFormat>
  <Paragraphs>91</Paragraphs>
  <Slides>7</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Red Hat Mono SemiBold</vt:lpstr>
      <vt:lpstr>Arial</vt:lpstr>
      <vt:lpstr>Red Hat Mono Medium</vt:lpstr>
      <vt:lpstr>Calibri</vt:lpstr>
      <vt:lpstr>Big Shoulders ExtraBold</vt:lpstr>
      <vt:lpstr>Libre Franklin</vt:lpstr>
      <vt:lpstr>Libre Franklin SemiBold</vt:lpstr>
      <vt:lpstr>Libre Franklin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TheoremLogic NumericLogorithm</dc:creator>
  <cp:lastModifiedBy>Sairohit</cp:lastModifiedBy>
  <cp:revision>3</cp:revision>
  <dcterms:created xsi:type="dcterms:W3CDTF">2026-10-08T04:50:05Z</dcterms:created>
  <dcterms:modified xsi:type="dcterms:W3CDTF">2026-10-08T04:52:03Z</dcterms:modified>
</cp:coreProperties>
</file>