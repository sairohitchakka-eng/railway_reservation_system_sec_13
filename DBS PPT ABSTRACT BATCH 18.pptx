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66" r:id="rId4"/>
    <p:sldId id="267" r:id="rId5"/>
    <p:sldId id="258" r:id="rId6"/>
    <p:sldId id="268" r:id="rId7"/>
    <p:sldId id="269" r:id="rId8"/>
    <p:sldId id="270" r:id="rId9"/>
    <p:sldId id="271" r:id="rId10"/>
    <p:sldId id="272" r:id="rId11"/>
    <p:sldId id="273" r:id="rId12"/>
    <p:sldId id="274" r:id="rId13"/>
    <p:sldId id="275" r:id="rId14"/>
    <p:sldId id="276" r:id="rId15"/>
    <p:sldId id="277" r:id="rId16"/>
    <p:sldId id="280" r:id="rId17"/>
    <p:sldId id="281" r:id="rId18"/>
    <p:sldId id="282" r:id="rId19"/>
    <p:sldId id="283" r:id="rId20"/>
    <p:sldId id="284" r:id="rId21"/>
    <p:sldId id="285" r:id="rId22"/>
    <p:sldId id="286" r:id="rId23"/>
    <p:sldId id="287" r:id="rId24"/>
    <p:sldId id="288"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592" autoAdjust="0"/>
    <p:restoredTop sz="94660"/>
  </p:normalViewPr>
  <p:slideViewPr>
    <p:cSldViewPr>
      <p:cViewPr varScale="1">
        <p:scale>
          <a:sx n="40" d="100"/>
          <a:sy n="40" d="100"/>
        </p:scale>
        <p:origin x="51"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4576E79-AF45-42BB-A1C4-A960F7B92C7E}" type="datetimeFigureOut">
              <a:rPr lang="en-IN" smtClean="0"/>
              <a:t>23-09-2026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B8E9EAA-4FD9-47F8-90FC-0FA47284CAC3}" type="slidenum">
              <a:rPr lang="en-IN" smtClean="0"/>
              <a:t>‹#›</a:t>
            </a:fld>
            <a:endParaRPr lang="en-IN"/>
          </a:p>
        </p:txBody>
      </p:sp>
    </p:spTree>
    <p:extLst>
      <p:ext uri="{BB962C8B-B14F-4D97-AF65-F5344CB8AC3E}">
        <p14:creationId xmlns:p14="http://schemas.microsoft.com/office/powerpoint/2010/main" val="4224820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B8E9EAA-4FD9-47F8-90FC-0FA47284CAC3}" type="slidenum">
              <a:rPr lang="en-IN" smtClean="0"/>
              <a:t>15</a:t>
            </a:fld>
            <a:endParaRPr lang="en-IN"/>
          </a:p>
        </p:txBody>
      </p:sp>
    </p:spTree>
    <p:extLst>
      <p:ext uri="{BB962C8B-B14F-4D97-AF65-F5344CB8AC3E}">
        <p14:creationId xmlns:p14="http://schemas.microsoft.com/office/powerpoint/2010/main" val="2263767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 y="381"/>
            <a:ext cx="12192000" cy="241935"/>
          </a:xfrm>
          <a:custGeom>
            <a:avLst/>
            <a:gdLst/>
            <a:ahLst/>
            <a:cxnLst/>
            <a:rect l="l" t="t" r="r" b="b"/>
            <a:pathLst>
              <a:path w="12192000" h="241935">
                <a:moveTo>
                  <a:pt x="12192000" y="0"/>
                </a:moveTo>
                <a:lnTo>
                  <a:pt x="0" y="0"/>
                </a:lnTo>
                <a:lnTo>
                  <a:pt x="0" y="241553"/>
                </a:lnTo>
                <a:lnTo>
                  <a:pt x="12192000" y="241553"/>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381" y="381"/>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sp>
        <p:nvSpPr>
          <p:cNvPr id="18" name="bg object 18"/>
          <p:cNvSpPr/>
          <p:nvPr/>
        </p:nvSpPr>
        <p:spPr>
          <a:xfrm>
            <a:off x="381" y="6553581"/>
            <a:ext cx="12192000" cy="304800"/>
          </a:xfrm>
          <a:custGeom>
            <a:avLst/>
            <a:gdLst/>
            <a:ahLst/>
            <a:cxnLst/>
            <a:rect l="l" t="t" r="r" b="b"/>
            <a:pathLst>
              <a:path w="12192000" h="304800">
                <a:moveTo>
                  <a:pt x="12191619" y="0"/>
                </a:moveTo>
                <a:lnTo>
                  <a:pt x="0" y="0"/>
                </a:lnTo>
                <a:lnTo>
                  <a:pt x="0" y="304419"/>
                </a:lnTo>
                <a:lnTo>
                  <a:pt x="12191619" y="304419"/>
                </a:lnTo>
                <a:lnTo>
                  <a:pt x="12191619" y="0"/>
                </a:lnTo>
                <a:close/>
              </a:path>
            </a:pathLst>
          </a:custGeom>
          <a:solidFill>
            <a:srgbClr val="5B9BD4"/>
          </a:solidFill>
        </p:spPr>
        <p:txBody>
          <a:bodyPr wrap="square" lIns="0" tIns="0" rIns="0" bIns="0" rtlCol="0"/>
          <a:lstStyle/>
          <a:p>
            <a:endParaRPr/>
          </a:p>
        </p:txBody>
      </p:sp>
      <p:sp>
        <p:nvSpPr>
          <p:cNvPr id="19" name="bg object 19"/>
          <p:cNvSpPr/>
          <p:nvPr/>
        </p:nvSpPr>
        <p:spPr>
          <a:xfrm>
            <a:off x="381"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2" name="Holder 2"/>
          <p:cNvSpPr>
            <a:spLocks noGrp="1"/>
          </p:cNvSpPr>
          <p:nvPr>
            <p:ph type="title"/>
          </p:nvPr>
        </p:nvSpPr>
        <p:spPr>
          <a:xfrm>
            <a:off x="916939" y="657606"/>
            <a:ext cx="6793865" cy="695960"/>
          </a:xfrm>
          <a:prstGeom prst="rect">
            <a:avLst/>
          </a:prstGeom>
        </p:spPr>
        <p:txBody>
          <a:bodyPr wrap="square" lIns="0" tIns="0" rIns="0" bIns="0">
            <a:spAutoFit/>
          </a:bodyPr>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a:xfrm>
            <a:off x="916939" y="1764792"/>
            <a:ext cx="10358120" cy="392811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034288" y="6603745"/>
            <a:ext cx="10123805" cy="254000"/>
          </a:xfrm>
          <a:prstGeom prst="rect">
            <a:avLst/>
          </a:prstGeom>
        </p:spPr>
        <p:txBody>
          <a:bodyPr wrap="square" lIns="0" tIns="0" rIns="0" bIns="0">
            <a:spAutoFit/>
          </a:bodyPr>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11603735" y="6284214"/>
            <a:ext cx="166370" cy="177800"/>
          </a:xfrm>
          <a:prstGeom prst="rect">
            <a:avLst/>
          </a:prstGeom>
        </p:spPr>
        <p:txBody>
          <a:bodyPr wrap="square" lIns="0" tIns="0" rIns="0" bIns="0">
            <a:spAutoFit/>
          </a:bodyPr>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80" y="380"/>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sp>
        <p:nvSpPr>
          <p:cNvPr id="3" name="object 3"/>
          <p:cNvSpPr/>
          <p:nvPr/>
        </p:nvSpPr>
        <p:spPr>
          <a:xfrm>
            <a:off x="380"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4" name="object 4"/>
          <p:cNvSpPr txBox="1"/>
          <p:nvPr/>
        </p:nvSpPr>
        <p:spPr>
          <a:xfrm>
            <a:off x="1046988" y="6616445"/>
            <a:ext cx="10098405" cy="228600"/>
          </a:xfrm>
          <a:prstGeom prst="rect">
            <a:avLst/>
          </a:prstGeom>
        </p:spPr>
        <p:txBody>
          <a:bodyPr vert="horz" wrap="square" lIns="0" tIns="0" rIns="0" bIns="0" rtlCol="0">
            <a:spAutoFit/>
          </a:bodyPr>
          <a:lstStyle/>
          <a:p>
            <a:pPr>
              <a:lnSpc>
                <a:spcPts val="1710"/>
              </a:lnSpc>
            </a:pPr>
            <a:r>
              <a:rPr sz="1800" dirty="0">
                <a:latin typeface="Calibri"/>
                <a:cs typeface="Calibri"/>
              </a:rPr>
              <a:t>MRCET</a:t>
            </a:r>
            <a:r>
              <a:rPr sz="1800" spc="-15" dirty="0">
                <a:latin typeface="Calibri"/>
                <a:cs typeface="Calibri"/>
              </a:rPr>
              <a:t> </a:t>
            </a:r>
            <a:r>
              <a:rPr sz="1800" dirty="0">
                <a:latin typeface="Calibri"/>
                <a:cs typeface="Calibri"/>
              </a:rPr>
              <a:t>|</a:t>
            </a:r>
            <a:r>
              <a:rPr sz="1800" spc="-10" dirty="0">
                <a:latin typeface="Calibri"/>
                <a:cs typeface="Calibri"/>
              </a:rPr>
              <a:t> Department</a:t>
            </a:r>
            <a:r>
              <a:rPr sz="1800" dirty="0">
                <a:latin typeface="Calibri"/>
                <a:cs typeface="Calibri"/>
              </a:rPr>
              <a:t> of Emerging</a:t>
            </a:r>
            <a:r>
              <a:rPr sz="1800" spc="-5" dirty="0">
                <a:latin typeface="Calibri"/>
                <a:cs typeface="Calibri"/>
              </a:rPr>
              <a:t> </a:t>
            </a:r>
            <a:r>
              <a:rPr sz="1800" spc="-25" dirty="0">
                <a:latin typeface="Calibri"/>
                <a:cs typeface="Calibri"/>
              </a:rPr>
              <a:t>Technologies</a:t>
            </a:r>
            <a:r>
              <a:rPr sz="1800" spc="10" dirty="0">
                <a:latin typeface="Calibri"/>
                <a:cs typeface="Calibri"/>
              </a:rPr>
              <a:t> </a:t>
            </a:r>
            <a:r>
              <a:rPr sz="1800" dirty="0">
                <a:latin typeface="Calibri"/>
                <a:cs typeface="Calibri"/>
              </a:rPr>
              <a:t>|</a:t>
            </a:r>
            <a:r>
              <a:rPr sz="1800" spc="-10" dirty="0">
                <a:latin typeface="Calibri"/>
                <a:cs typeface="Calibri"/>
              </a:rPr>
              <a:t> Application </a:t>
            </a:r>
            <a:r>
              <a:rPr sz="1800" spc="-20" dirty="0">
                <a:latin typeface="Calibri"/>
                <a:cs typeface="Calibri"/>
              </a:rPr>
              <a:t>Development-</a:t>
            </a:r>
            <a:r>
              <a:rPr sz="1800" dirty="0">
                <a:latin typeface="Calibri"/>
                <a:cs typeface="Calibri"/>
              </a:rPr>
              <a:t>II</a:t>
            </a:r>
            <a:r>
              <a:rPr sz="1800" spc="10" dirty="0">
                <a:latin typeface="Calibri"/>
                <a:cs typeface="Calibri"/>
              </a:rPr>
              <a:t> </a:t>
            </a:r>
            <a:r>
              <a:rPr sz="1800" dirty="0">
                <a:latin typeface="Calibri"/>
                <a:cs typeface="Calibri"/>
              </a:rPr>
              <a:t>PPT|</a:t>
            </a:r>
            <a:r>
              <a:rPr sz="1800" spc="-20" dirty="0">
                <a:latin typeface="Calibri"/>
                <a:cs typeface="Calibri"/>
              </a:rPr>
              <a:t> </a:t>
            </a:r>
            <a:r>
              <a:rPr sz="1800" dirty="0">
                <a:latin typeface="Calibri"/>
                <a:cs typeface="Calibri"/>
              </a:rPr>
              <a:t>III</a:t>
            </a:r>
            <a:r>
              <a:rPr sz="1800" spc="-20" dirty="0">
                <a:latin typeface="Calibri"/>
                <a:cs typeface="Calibri"/>
              </a:rPr>
              <a:t> Year</a:t>
            </a:r>
            <a:r>
              <a:rPr sz="1800" spc="5" dirty="0">
                <a:latin typeface="Calibri"/>
                <a:cs typeface="Calibri"/>
              </a:rPr>
              <a:t> </a:t>
            </a:r>
            <a:r>
              <a:rPr sz="1800" spc="-55" dirty="0">
                <a:latin typeface="Calibri"/>
                <a:cs typeface="Calibri"/>
              </a:rPr>
              <a:t>B.Tech-</a:t>
            </a:r>
            <a:r>
              <a:rPr sz="1800" dirty="0">
                <a:latin typeface="Calibri"/>
                <a:cs typeface="Calibri"/>
              </a:rPr>
              <a:t>II</a:t>
            </a:r>
            <a:r>
              <a:rPr sz="1800" spc="-15" dirty="0">
                <a:latin typeface="Calibri"/>
                <a:cs typeface="Calibri"/>
              </a:rPr>
              <a:t> </a:t>
            </a:r>
            <a:r>
              <a:rPr sz="1800" spc="-10" dirty="0">
                <a:latin typeface="Calibri"/>
                <a:cs typeface="Calibri"/>
              </a:rPr>
              <a:t>Semester</a:t>
            </a:r>
            <a:endParaRPr sz="1800">
              <a:latin typeface="Calibri"/>
              <a:cs typeface="Calibri"/>
            </a:endParaRPr>
          </a:p>
        </p:txBody>
      </p:sp>
      <p:grpSp>
        <p:nvGrpSpPr>
          <p:cNvPr id="5" name="object 5"/>
          <p:cNvGrpSpPr/>
          <p:nvPr/>
        </p:nvGrpSpPr>
        <p:grpSpPr>
          <a:xfrm>
            <a:off x="-6095" y="-6095"/>
            <a:ext cx="12205335" cy="828675"/>
            <a:chOff x="-6095" y="-6095"/>
            <a:chExt cx="12205335" cy="828675"/>
          </a:xfrm>
        </p:grpSpPr>
        <p:pic>
          <p:nvPicPr>
            <p:cNvPr id="6" name="object 6"/>
            <p:cNvPicPr/>
            <p:nvPr/>
          </p:nvPicPr>
          <p:blipFill>
            <a:blip r:embed="rId2" cstate="print"/>
            <a:stretch>
              <a:fillRect/>
            </a:stretch>
          </p:blipFill>
          <p:spPr>
            <a:xfrm>
              <a:off x="11353799" y="0"/>
              <a:ext cx="822198" cy="822198"/>
            </a:xfrm>
            <a:prstGeom prst="rect">
              <a:avLst/>
            </a:prstGeom>
          </p:spPr>
        </p:pic>
        <p:sp>
          <p:nvSpPr>
            <p:cNvPr id="7" name="object 7"/>
            <p:cNvSpPr/>
            <p:nvPr/>
          </p:nvSpPr>
          <p:spPr>
            <a:xfrm>
              <a:off x="381" y="381"/>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grpSp>
      <p:sp>
        <p:nvSpPr>
          <p:cNvPr id="8" name="object 8"/>
          <p:cNvSpPr/>
          <p:nvPr/>
        </p:nvSpPr>
        <p:spPr>
          <a:xfrm>
            <a:off x="380"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9" name="object 9"/>
          <p:cNvSpPr txBox="1"/>
          <p:nvPr/>
        </p:nvSpPr>
        <p:spPr>
          <a:xfrm>
            <a:off x="1046988" y="6616445"/>
            <a:ext cx="10098405" cy="228600"/>
          </a:xfrm>
          <a:prstGeom prst="rect">
            <a:avLst/>
          </a:prstGeom>
        </p:spPr>
        <p:txBody>
          <a:bodyPr vert="horz" wrap="square" lIns="0" tIns="0" rIns="0" bIns="0" rtlCol="0">
            <a:spAutoFit/>
          </a:bodyPr>
          <a:lstStyle/>
          <a:p>
            <a:pPr>
              <a:lnSpc>
                <a:spcPts val="1710"/>
              </a:lnSpc>
            </a:pPr>
            <a:r>
              <a:rPr sz="1800" dirty="0">
                <a:latin typeface="Calibri"/>
                <a:cs typeface="Calibri"/>
              </a:rPr>
              <a:t>MRCET</a:t>
            </a:r>
            <a:r>
              <a:rPr sz="1800" spc="-15" dirty="0">
                <a:latin typeface="Calibri"/>
                <a:cs typeface="Calibri"/>
              </a:rPr>
              <a:t> </a:t>
            </a:r>
            <a:r>
              <a:rPr sz="1800" dirty="0">
                <a:latin typeface="Calibri"/>
                <a:cs typeface="Calibri"/>
              </a:rPr>
              <a:t>|</a:t>
            </a:r>
            <a:r>
              <a:rPr sz="1800" spc="-10" dirty="0">
                <a:latin typeface="Calibri"/>
                <a:cs typeface="Calibri"/>
              </a:rPr>
              <a:t> Department</a:t>
            </a:r>
            <a:r>
              <a:rPr sz="1800" dirty="0">
                <a:latin typeface="Calibri"/>
                <a:cs typeface="Calibri"/>
              </a:rPr>
              <a:t> of Emerging</a:t>
            </a:r>
            <a:r>
              <a:rPr sz="1800" spc="-5" dirty="0">
                <a:latin typeface="Calibri"/>
                <a:cs typeface="Calibri"/>
              </a:rPr>
              <a:t> </a:t>
            </a:r>
            <a:r>
              <a:rPr sz="1800" spc="-25" dirty="0">
                <a:latin typeface="Calibri"/>
                <a:cs typeface="Calibri"/>
              </a:rPr>
              <a:t>Technologies</a:t>
            </a:r>
            <a:r>
              <a:rPr sz="1800" spc="10" dirty="0">
                <a:latin typeface="Calibri"/>
                <a:cs typeface="Calibri"/>
              </a:rPr>
              <a:t> </a:t>
            </a:r>
            <a:r>
              <a:rPr sz="1800" dirty="0">
                <a:latin typeface="Calibri"/>
                <a:cs typeface="Calibri"/>
              </a:rPr>
              <a:t>|</a:t>
            </a:r>
            <a:r>
              <a:rPr sz="1800" spc="-10" dirty="0">
                <a:latin typeface="Calibri"/>
                <a:cs typeface="Calibri"/>
              </a:rPr>
              <a:t> Application </a:t>
            </a:r>
            <a:r>
              <a:rPr sz="1800" spc="-20" dirty="0">
                <a:latin typeface="Calibri"/>
                <a:cs typeface="Calibri"/>
              </a:rPr>
              <a:t>Development-</a:t>
            </a:r>
            <a:r>
              <a:rPr sz="1800" dirty="0">
                <a:latin typeface="Calibri"/>
                <a:cs typeface="Calibri"/>
              </a:rPr>
              <a:t>II</a:t>
            </a:r>
            <a:r>
              <a:rPr sz="1800" spc="10" dirty="0">
                <a:latin typeface="Calibri"/>
                <a:cs typeface="Calibri"/>
              </a:rPr>
              <a:t> </a:t>
            </a:r>
            <a:r>
              <a:rPr sz="1800" dirty="0">
                <a:latin typeface="Calibri"/>
                <a:cs typeface="Calibri"/>
              </a:rPr>
              <a:t>PPT|</a:t>
            </a:r>
            <a:r>
              <a:rPr sz="1800" spc="-20" dirty="0">
                <a:latin typeface="Calibri"/>
                <a:cs typeface="Calibri"/>
              </a:rPr>
              <a:t> </a:t>
            </a:r>
            <a:r>
              <a:rPr sz="1800" dirty="0">
                <a:latin typeface="Calibri"/>
                <a:cs typeface="Calibri"/>
              </a:rPr>
              <a:t>III</a:t>
            </a:r>
            <a:r>
              <a:rPr sz="1800" spc="-20" dirty="0">
                <a:latin typeface="Calibri"/>
                <a:cs typeface="Calibri"/>
              </a:rPr>
              <a:t> Year</a:t>
            </a:r>
            <a:r>
              <a:rPr sz="1800" spc="5" dirty="0">
                <a:latin typeface="Calibri"/>
                <a:cs typeface="Calibri"/>
              </a:rPr>
              <a:t> </a:t>
            </a:r>
            <a:r>
              <a:rPr sz="1800" spc="-55" dirty="0">
                <a:latin typeface="Calibri"/>
                <a:cs typeface="Calibri"/>
              </a:rPr>
              <a:t>B.Tech-</a:t>
            </a:r>
            <a:r>
              <a:rPr sz="1800" dirty="0">
                <a:latin typeface="Calibri"/>
                <a:cs typeface="Calibri"/>
              </a:rPr>
              <a:t>II</a:t>
            </a:r>
            <a:r>
              <a:rPr sz="1800" spc="-15" dirty="0">
                <a:latin typeface="Calibri"/>
                <a:cs typeface="Calibri"/>
              </a:rPr>
              <a:t> </a:t>
            </a:r>
            <a:r>
              <a:rPr sz="1800" spc="-10" dirty="0">
                <a:latin typeface="Calibri"/>
                <a:cs typeface="Calibri"/>
              </a:rPr>
              <a:t>Semester</a:t>
            </a:r>
            <a:endParaRPr sz="1800">
              <a:latin typeface="Calibri"/>
              <a:cs typeface="Calibri"/>
            </a:endParaRPr>
          </a:p>
        </p:txBody>
      </p:sp>
      <p:grpSp>
        <p:nvGrpSpPr>
          <p:cNvPr id="10" name="object 10"/>
          <p:cNvGrpSpPr/>
          <p:nvPr/>
        </p:nvGrpSpPr>
        <p:grpSpPr>
          <a:xfrm>
            <a:off x="0" y="0"/>
            <a:ext cx="12192000" cy="1408430"/>
            <a:chOff x="0" y="0"/>
            <a:chExt cx="12192000" cy="1408430"/>
          </a:xfrm>
        </p:grpSpPr>
        <p:pic>
          <p:nvPicPr>
            <p:cNvPr id="11" name="object 11"/>
            <p:cNvPicPr/>
            <p:nvPr/>
          </p:nvPicPr>
          <p:blipFill>
            <a:blip r:embed="rId2" cstate="print"/>
            <a:stretch>
              <a:fillRect/>
            </a:stretch>
          </p:blipFill>
          <p:spPr>
            <a:xfrm>
              <a:off x="11353800" y="0"/>
              <a:ext cx="822198" cy="822198"/>
            </a:xfrm>
            <a:prstGeom prst="rect">
              <a:avLst/>
            </a:prstGeom>
          </p:spPr>
        </p:pic>
        <p:sp>
          <p:nvSpPr>
            <p:cNvPr id="12" name="object 12"/>
            <p:cNvSpPr/>
            <p:nvPr/>
          </p:nvSpPr>
          <p:spPr>
            <a:xfrm>
              <a:off x="0" y="0"/>
              <a:ext cx="12192000" cy="266065"/>
            </a:xfrm>
            <a:custGeom>
              <a:avLst/>
              <a:gdLst/>
              <a:ahLst/>
              <a:cxnLst/>
              <a:rect l="l" t="t" r="r" b="b"/>
              <a:pathLst>
                <a:path w="12192000" h="266065">
                  <a:moveTo>
                    <a:pt x="0" y="265556"/>
                  </a:moveTo>
                  <a:lnTo>
                    <a:pt x="12192000" y="265556"/>
                  </a:lnTo>
                  <a:lnTo>
                    <a:pt x="12192000" y="0"/>
                  </a:lnTo>
                  <a:lnTo>
                    <a:pt x="0" y="0"/>
                  </a:lnTo>
                  <a:lnTo>
                    <a:pt x="0" y="265556"/>
                  </a:lnTo>
                  <a:close/>
                </a:path>
              </a:pathLst>
            </a:custGeom>
            <a:solidFill>
              <a:srgbClr val="5B9BD4"/>
            </a:solidFill>
          </p:spPr>
          <p:txBody>
            <a:bodyPr wrap="square" lIns="0" tIns="0" rIns="0" bIns="0" rtlCol="0"/>
            <a:lstStyle/>
            <a:p>
              <a:endParaRPr/>
            </a:p>
          </p:txBody>
        </p:sp>
        <p:sp>
          <p:nvSpPr>
            <p:cNvPr id="13" name="object 13"/>
            <p:cNvSpPr/>
            <p:nvPr/>
          </p:nvSpPr>
          <p:spPr>
            <a:xfrm>
              <a:off x="0" y="259079"/>
              <a:ext cx="12192000" cy="13335"/>
            </a:xfrm>
            <a:custGeom>
              <a:avLst/>
              <a:gdLst/>
              <a:ahLst/>
              <a:cxnLst/>
              <a:rect l="l" t="t" r="r" b="b"/>
              <a:pathLst>
                <a:path w="12192000" h="13335">
                  <a:moveTo>
                    <a:pt x="0" y="12953"/>
                  </a:moveTo>
                  <a:lnTo>
                    <a:pt x="12192000" y="12953"/>
                  </a:lnTo>
                  <a:lnTo>
                    <a:pt x="12192000" y="0"/>
                  </a:lnTo>
                  <a:lnTo>
                    <a:pt x="0" y="0"/>
                  </a:lnTo>
                  <a:lnTo>
                    <a:pt x="0" y="12953"/>
                  </a:lnTo>
                  <a:close/>
                </a:path>
              </a:pathLst>
            </a:custGeom>
            <a:solidFill>
              <a:srgbClr val="41709C"/>
            </a:solidFill>
          </p:spPr>
          <p:txBody>
            <a:bodyPr wrap="square" lIns="0" tIns="0" rIns="0" bIns="0" rtlCol="0"/>
            <a:lstStyle/>
            <a:p>
              <a:endParaRPr/>
            </a:p>
          </p:txBody>
        </p:sp>
        <p:sp>
          <p:nvSpPr>
            <p:cNvPr id="14" name="object 14"/>
            <p:cNvSpPr/>
            <p:nvPr/>
          </p:nvSpPr>
          <p:spPr>
            <a:xfrm>
              <a:off x="11261979" y="270129"/>
              <a:ext cx="914400" cy="551180"/>
            </a:xfrm>
            <a:custGeom>
              <a:avLst/>
              <a:gdLst/>
              <a:ahLst/>
              <a:cxnLst/>
              <a:rect l="l" t="t" r="r" b="b"/>
              <a:pathLst>
                <a:path w="914400" h="551180">
                  <a:moveTo>
                    <a:pt x="914400" y="0"/>
                  </a:moveTo>
                  <a:lnTo>
                    <a:pt x="0" y="0"/>
                  </a:lnTo>
                  <a:lnTo>
                    <a:pt x="0" y="550926"/>
                  </a:lnTo>
                  <a:lnTo>
                    <a:pt x="914400" y="550926"/>
                  </a:lnTo>
                  <a:lnTo>
                    <a:pt x="914400" y="0"/>
                  </a:lnTo>
                  <a:close/>
                </a:path>
              </a:pathLst>
            </a:custGeom>
            <a:solidFill>
              <a:srgbClr val="FFFFFF"/>
            </a:solidFill>
          </p:spPr>
          <p:txBody>
            <a:bodyPr wrap="square" lIns="0" tIns="0" rIns="0" bIns="0" rtlCol="0"/>
            <a:lstStyle/>
            <a:p>
              <a:endParaRPr/>
            </a:p>
          </p:txBody>
        </p:sp>
        <p:sp>
          <p:nvSpPr>
            <p:cNvPr id="15" name="object 15"/>
            <p:cNvSpPr/>
            <p:nvPr/>
          </p:nvSpPr>
          <p:spPr>
            <a:xfrm>
              <a:off x="11261979" y="270129"/>
              <a:ext cx="914400" cy="551180"/>
            </a:xfrm>
            <a:custGeom>
              <a:avLst/>
              <a:gdLst/>
              <a:ahLst/>
              <a:cxnLst/>
              <a:rect l="l" t="t" r="r" b="b"/>
              <a:pathLst>
                <a:path w="914400" h="551180">
                  <a:moveTo>
                    <a:pt x="0" y="550926"/>
                  </a:moveTo>
                  <a:lnTo>
                    <a:pt x="914400" y="550926"/>
                  </a:lnTo>
                  <a:lnTo>
                    <a:pt x="914400" y="0"/>
                  </a:lnTo>
                  <a:lnTo>
                    <a:pt x="0" y="0"/>
                  </a:lnTo>
                  <a:lnTo>
                    <a:pt x="0" y="550926"/>
                  </a:lnTo>
                  <a:close/>
                </a:path>
              </a:pathLst>
            </a:custGeom>
            <a:ln w="12954">
              <a:solidFill>
                <a:srgbClr val="FFFFFF"/>
              </a:solidFill>
            </a:ln>
          </p:spPr>
          <p:txBody>
            <a:bodyPr wrap="square" lIns="0" tIns="0" rIns="0" bIns="0" rtlCol="0"/>
            <a:lstStyle/>
            <a:p>
              <a:endParaRPr/>
            </a:p>
          </p:txBody>
        </p:sp>
        <p:pic>
          <p:nvPicPr>
            <p:cNvPr id="16" name="object 16"/>
            <p:cNvPicPr/>
            <p:nvPr/>
          </p:nvPicPr>
          <p:blipFill>
            <a:blip r:embed="rId3" cstate="print"/>
            <a:stretch>
              <a:fillRect/>
            </a:stretch>
          </p:blipFill>
          <p:spPr>
            <a:xfrm>
              <a:off x="2138401" y="741426"/>
              <a:ext cx="8564420" cy="666750"/>
            </a:xfrm>
            <a:prstGeom prst="rect">
              <a:avLst/>
            </a:prstGeom>
          </p:spPr>
        </p:pic>
      </p:grpSp>
      <p:sp>
        <p:nvSpPr>
          <p:cNvPr id="17" name="object 17"/>
          <p:cNvSpPr txBox="1"/>
          <p:nvPr/>
        </p:nvSpPr>
        <p:spPr>
          <a:xfrm>
            <a:off x="11629135" y="6246114"/>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C00000"/>
                </a:solidFill>
                <a:latin typeface="Calibri"/>
                <a:cs typeface="Calibri"/>
              </a:rPr>
              <a:t>1</a:t>
            </a:r>
            <a:endParaRPr sz="1200">
              <a:latin typeface="Calibri"/>
              <a:cs typeface="Calibri"/>
            </a:endParaRPr>
          </a:p>
        </p:txBody>
      </p:sp>
      <p:grpSp>
        <p:nvGrpSpPr>
          <p:cNvPr id="18" name="object 18"/>
          <p:cNvGrpSpPr/>
          <p:nvPr/>
        </p:nvGrpSpPr>
        <p:grpSpPr>
          <a:xfrm>
            <a:off x="-6095" y="6470903"/>
            <a:ext cx="12204700" cy="393700"/>
            <a:chOff x="-6095" y="6470903"/>
            <a:chExt cx="12204700" cy="393700"/>
          </a:xfrm>
        </p:grpSpPr>
        <p:sp>
          <p:nvSpPr>
            <p:cNvPr id="19" name="object 19"/>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20" name="object 20"/>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21" name="object 21"/>
          <p:cNvSpPr txBox="1"/>
          <p:nvPr/>
        </p:nvSpPr>
        <p:spPr>
          <a:xfrm>
            <a:off x="3411982" y="6535673"/>
            <a:ext cx="5366385" cy="269875"/>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B.Tech</a:t>
            </a:r>
            <a:r>
              <a:rPr sz="1600" b="1" spc="-35" dirty="0">
                <a:latin typeface="Arial"/>
                <a:cs typeface="Arial"/>
              </a:rPr>
              <a:t> </a:t>
            </a:r>
            <a:r>
              <a:rPr sz="1600" b="1" spc="50" dirty="0">
                <a:latin typeface="Arial"/>
                <a:cs typeface="Arial"/>
              </a:rPr>
              <a:t>II</a:t>
            </a:r>
            <a:r>
              <a:rPr sz="1600" b="1" spc="434" dirty="0">
                <a:latin typeface="Arial"/>
                <a:cs typeface="Arial"/>
              </a:rPr>
              <a:t> </a:t>
            </a:r>
            <a:r>
              <a:rPr sz="1600" b="1" dirty="0">
                <a:latin typeface="Arial"/>
                <a:cs typeface="Arial"/>
              </a:rPr>
              <a:t>Year</a:t>
            </a:r>
            <a:r>
              <a:rPr sz="1600" b="1" spc="-30" dirty="0">
                <a:latin typeface="Arial"/>
                <a:cs typeface="Arial"/>
              </a:rPr>
              <a:t> </a:t>
            </a:r>
            <a:r>
              <a:rPr sz="1600" b="1" spc="-95" dirty="0">
                <a:latin typeface="Arial"/>
                <a:cs typeface="Arial"/>
              </a:rPr>
              <a:t>–</a:t>
            </a:r>
            <a:r>
              <a:rPr sz="1600" b="1" spc="-15" dirty="0">
                <a:latin typeface="Arial"/>
                <a:cs typeface="Arial"/>
              </a:rPr>
              <a:t> </a:t>
            </a:r>
            <a:r>
              <a:rPr sz="1600" b="1" dirty="0">
                <a:latin typeface="Arial"/>
                <a:cs typeface="Arial"/>
              </a:rPr>
              <a:t>I</a:t>
            </a:r>
            <a:r>
              <a:rPr sz="1600" b="1" spc="-1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3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CS&amp;IT</a:t>
            </a:r>
            <a:r>
              <a:rPr sz="1600" b="1" spc="-30"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5" dirty="0">
                <a:latin typeface="Arial"/>
                <a:cs typeface="Arial"/>
              </a:rPr>
              <a:t> </a:t>
            </a:r>
            <a:r>
              <a:rPr sz="1600" b="1" spc="-10" dirty="0">
                <a:latin typeface="Arial"/>
                <a:cs typeface="Arial"/>
              </a:rPr>
              <a:t>Review</a:t>
            </a:r>
            <a:endParaRPr sz="1600">
              <a:latin typeface="Arial"/>
              <a:cs typeface="Arial"/>
            </a:endParaRPr>
          </a:p>
        </p:txBody>
      </p:sp>
      <p:sp>
        <p:nvSpPr>
          <p:cNvPr id="22" name="object 22" descr="$PPTXTitle"/>
          <p:cNvSpPr txBox="1">
            <a:spLocks noGrp="1"/>
          </p:cNvSpPr>
          <p:nvPr>
            <p:ph type="title"/>
          </p:nvPr>
        </p:nvSpPr>
        <p:spPr>
          <a:xfrm>
            <a:off x="3608578" y="1520697"/>
            <a:ext cx="5367655" cy="513080"/>
          </a:xfrm>
          <a:prstGeom prst="rect">
            <a:avLst/>
          </a:prstGeom>
        </p:spPr>
        <p:txBody>
          <a:bodyPr vert="horz" wrap="square" lIns="0" tIns="12065" rIns="0" bIns="0" rtlCol="0">
            <a:spAutoFit/>
          </a:bodyPr>
          <a:lstStyle/>
          <a:p>
            <a:pPr marL="12700">
              <a:lnSpc>
                <a:spcPct val="100000"/>
              </a:lnSpc>
              <a:spcBef>
                <a:spcPts val="95"/>
              </a:spcBef>
            </a:pPr>
            <a:r>
              <a:rPr sz="3200" spc="-85" dirty="0">
                <a:solidFill>
                  <a:srgbClr val="538235"/>
                </a:solidFill>
                <a:latin typeface="Calibri"/>
                <a:cs typeface="Calibri"/>
              </a:rPr>
              <a:t>RAILWAY</a:t>
            </a:r>
            <a:r>
              <a:rPr sz="3200" spc="-80" dirty="0">
                <a:solidFill>
                  <a:srgbClr val="538235"/>
                </a:solidFill>
                <a:latin typeface="Calibri"/>
                <a:cs typeface="Calibri"/>
              </a:rPr>
              <a:t> </a:t>
            </a:r>
            <a:r>
              <a:rPr sz="3200" spc="-50" dirty="0">
                <a:solidFill>
                  <a:srgbClr val="538235"/>
                </a:solidFill>
                <a:latin typeface="Calibri"/>
                <a:cs typeface="Calibri"/>
              </a:rPr>
              <a:t>RESERVATION</a:t>
            </a:r>
            <a:r>
              <a:rPr sz="3200" spc="-80" dirty="0">
                <a:solidFill>
                  <a:srgbClr val="538235"/>
                </a:solidFill>
                <a:latin typeface="Calibri"/>
                <a:cs typeface="Calibri"/>
              </a:rPr>
              <a:t> </a:t>
            </a:r>
            <a:r>
              <a:rPr sz="3200" spc="-10" dirty="0">
                <a:solidFill>
                  <a:srgbClr val="538235"/>
                </a:solidFill>
                <a:latin typeface="Calibri"/>
                <a:cs typeface="Calibri"/>
              </a:rPr>
              <a:t>SYSTEM</a:t>
            </a:r>
            <a:endParaRPr sz="3200">
              <a:latin typeface="Calibri"/>
              <a:cs typeface="Calibri"/>
            </a:endParaRPr>
          </a:p>
        </p:txBody>
      </p:sp>
      <p:sp>
        <p:nvSpPr>
          <p:cNvPr id="23" name="object 23"/>
          <p:cNvSpPr txBox="1"/>
          <p:nvPr/>
        </p:nvSpPr>
        <p:spPr>
          <a:xfrm>
            <a:off x="3703828" y="2105152"/>
            <a:ext cx="5179060" cy="3508375"/>
          </a:xfrm>
          <a:prstGeom prst="rect">
            <a:avLst/>
          </a:prstGeom>
        </p:spPr>
        <p:txBody>
          <a:bodyPr vert="horz" wrap="square" lIns="0" tIns="12700" rIns="0" bIns="0" rtlCol="0">
            <a:spAutoFit/>
          </a:bodyPr>
          <a:lstStyle/>
          <a:p>
            <a:pPr marL="1142365">
              <a:lnSpc>
                <a:spcPts val="2795"/>
              </a:lnSpc>
              <a:spcBef>
                <a:spcPts val="100"/>
              </a:spcBef>
            </a:pPr>
            <a:r>
              <a:rPr sz="2400" b="1" spc="-50" dirty="0">
                <a:solidFill>
                  <a:srgbClr val="FF0000"/>
                </a:solidFill>
                <a:latin typeface="Calibri"/>
                <a:cs typeface="Calibri"/>
              </a:rPr>
              <a:t>Team</a:t>
            </a:r>
            <a:r>
              <a:rPr sz="2400" b="1" spc="-80" dirty="0">
                <a:solidFill>
                  <a:srgbClr val="FF0000"/>
                </a:solidFill>
                <a:latin typeface="Calibri"/>
                <a:cs typeface="Calibri"/>
              </a:rPr>
              <a:t> </a:t>
            </a:r>
            <a:r>
              <a:rPr sz="2400" b="1" spc="-10" dirty="0">
                <a:solidFill>
                  <a:srgbClr val="FF0000"/>
                </a:solidFill>
                <a:latin typeface="Calibri"/>
                <a:cs typeface="Calibri"/>
              </a:rPr>
              <a:t>Members</a:t>
            </a:r>
            <a:r>
              <a:rPr sz="2400" b="1" spc="-70" dirty="0">
                <a:solidFill>
                  <a:srgbClr val="FF0000"/>
                </a:solidFill>
                <a:latin typeface="Calibri"/>
                <a:cs typeface="Calibri"/>
              </a:rPr>
              <a:t> </a:t>
            </a:r>
            <a:r>
              <a:rPr sz="2400" b="1" spc="-10" dirty="0">
                <a:solidFill>
                  <a:srgbClr val="FF0000"/>
                </a:solidFill>
                <a:latin typeface="Calibri"/>
                <a:cs typeface="Calibri"/>
              </a:rPr>
              <a:t>Details</a:t>
            </a:r>
            <a:endParaRPr sz="2400">
              <a:latin typeface="Calibri"/>
              <a:cs typeface="Calibri"/>
            </a:endParaRPr>
          </a:p>
          <a:p>
            <a:pPr marL="979805" indent="-238125">
              <a:lnSpc>
                <a:spcPts val="2575"/>
              </a:lnSpc>
              <a:buSzPct val="95833"/>
              <a:buAutoNum type="arabicPeriod"/>
              <a:tabLst>
                <a:tab pos="979805" algn="l"/>
              </a:tabLst>
            </a:pPr>
            <a:r>
              <a:rPr sz="2400" b="1" dirty="0">
                <a:latin typeface="Calibri"/>
                <a:cs typeface="Calibri"/>
              </a:rPr>
              <a:t>CH.</a:t>
            </a:r>
            <a:r>
              <a:rPr sz="2400" b="1" spc="-55" dirty="0">
                <a:latin typeface="Calibri"/>
                <a:cs typeface="Calibri"/>
              </a:rPr>
              <a:t> </a:t>
            </a:r>
            <a:r>
              <a:rPr sz="2400" b="1" dirty="0">
                <a:latin typeface="Calibri"/>
                <a:cs typeface="Calibri"/>
              </a:rPr>
              <a:t>Sai</a:t>
            </a:r>
            <a:r>
              <a:rPr sz="2400" b="1" spc="-45" dirty="0">
                <a:latin typeface="Calibri"/>
                <a:cs typeface="Calibri"/>
              </a:rPr>
              <a:t> </a:t>
            </a:r>
            <a:r>
              <a:rPr sz="2400" b="1" dirty="0">
                <a:latin typeface="Calibri"/>
                <a:cs typeface="Calibri"/>
              </a:rPr>
              <a:t>Rohit</a:t>
            </a:r>
            <a:r>
              <a:rPr sz="2400" b="1" spc="-45" dirty="0">
                <a:latin typeface="Calibri"/>
                <a:cs typeface="Calibri"/>
              </a:rPr>
              <a:t> </a:t>
            </a:r>
            <a:r>
              <a:rPr sz="2400" b="1" dirty="0">
                <a:latin typeface="Calibri"/>
                <a:cs typeface="Calibri"/>
              </a:rPr>
              <a:t>–</a:t>
            </a:r>
            <a:r>
              <a:rPr sz="2400" b="1" spc="-40" dirty="0">
                <a:latin typeface="Calibri"/>
                <a:cs typeface="Calibri"/>
              </a:rPr>
              <a:t> </a:t>
            </a:r>
            <a:r>
              <a:rPr sz="2400" b="1" spc="-10" dirty="0">
                <a:latin typeface="Calibri"/>
                <a:cs typeface="Calibri"/>
              </a:rPr>
              <a:t>2520090091</a:t>
            </a:r>
            <a:endParaRPr sz="2400">
              <a:latin typeface="Calibri"/>
              <a:cs typeface="Calibri"/>
            </a:endParaRPr>
          </a:p>
          <a:p>
            <a:pPr marL="1257935" indent="-238125">
              <a:lnSpc>
                <a:spcPts val="2440"/>
              </a:lnSpc>
              <a:buSzPct val="95833"/>
              <a:buAutoNum type="arabicPeriod"/>
              <a:tabLst>
                <a:tab pos="1257935" algn="l"/>
                <a:tab pos="2613660" algn="l"/>
              </a:tabLst>
            </a:pPr>
            <a:r>
              <a:rPr sz="2400" b="1" dirty="0">
                <a:latin typeface="Calibri"/>
                <a:cs typeface="Calibri"/>
              </a:rPr>
              <a:t>Akash</a:t>
            </a:r>
            <a:r>
              <a:rPr sz="2400" b="1" spc="-85" dirty="0">
                <a:latin typeface="Calibri"/>
                <a:cs typeface="Calibri"/>
              </a:rPr>
              <a:t> </a:t>
            </a:r>
            <a:r>
              <a:rPr sz="2400" b="1" spc="-25" dirty="0">
                <a:latin typeface="Calibri"/>
                <a:cs typeface="Calibri"/>
              </a:rPr>
              <a:t>K–</a:t>
            </a:r>
            <a:r>
              <a:rPr sz="2400" b="1" dirty="0">
                <a:latin typeface="Calibri"/>
                <a:cs typeface="Calibri"/>
              </a:rPr>
              <a:t>	</a:t>
            </a:r>
            <a:r>
              <a:rPr sz="2400" b="1" spc="-10" dirty="0">
                <a:latin typeface="Calibri"/>
                <a:cs typeface="Calibri"/>
              </a:rPr>
              <a:t>2520090127</a:t>
            </a:r>
            <a:endParaRPr sz="2400">
              <a:latin typeface="Calibri"/>
              <a:cs typeface="Calibri"/>
            </a:endParaRPr>
          </a:p>
          <a:p>
            <a:pPr marL="375285" indent="-238125">
              <a:lnSpc>
                <a:spcPts val="2660"/>
              </a:lnSpc>
              <a:buSzPct val="95833"/>
              <a:buAutoNum type="arabicPeriod"/>
              <a:tabLst>
                <a:tab pos="375285" algn="l"/>
                <a:tab pos="3494404" algn="l"/>
              </a:tabLst>
            </a:pPr>
            <a:r>
              <a:rPr sz="2400" b="1" spc="-10" dirty="0">
                <a:latin typeface="Calibri"/>
                <a:cs typeface="Calibri"/>
              </a:rPr>
              <a:t>Surendra</a:t>
            </a:r>
            <a:r>
              <a:rPr sz="2400" b="1" spc="-85" dirty="0">
                <a:latin typeface="Calibri"/>
                <a:cs typeface="Calibri"/>
              </a:rPr>
              <a:t> </a:t>
            </a:r>
            <a:r>
              <a:rPr sz="2400" b="1" dirty="0">
                <a:latin typeface="Calibri"/>
                <a:cs typeface="Calibri"/>
              </a:rPr>
              <a:t>Nath</a:t>
            </a:r>
            <a:r>
              <a:rPr sz="2400" b="1" spc="-75" dirty="0">
                <a:latin typeface="Calibri"/>
                <a:cs typeface="Calibri"/>
              </a:rPr>
              <a:t> </a:t>
            </a:r>
            <a:r>
              <a:rPr sz="2400" b="1" dirty="0">
                <a:latin typeface="Calibri"/>
                <a:cs typeface="Calibri"/>
              </a:rPr>
              <a:t>Reddy</a:t>
            </a:r>
            <a:r>
              <a:rPr sz="2400" b="1" spc="-90" dirty="0">
                <a:latin typeface="Calibri"/>
                <a:cs typeface="Calibri"/>
              </a:rPr>
              <a:t> </a:t>
            </a:r>
            <a:r>
              <a:rPr sz="2400" b="1" spc="-50" dirty="0">
                <a:latin typeface="Calibri"/>
                <a:cs typeface="Calibri"/>
              </a:rPr>
              <a:t>–</a:t>
            </a:r>
            <a:r>
              <a:rPr sz="2400" b="1" dirty="0">
                <a:latin typeface="Calibri"/>
                <a:cs typeface="Calibri"/>
              </a:rPr>
              <a:t>	</a:t>
            </a:r>
            <a:r>
              <a:rPr sz="2400" b="1" spc="-10" dirty="0">
                <a:latin typeface="Calibri"/>
                <a:cs typeface="Calibri"/>
              </a:rPr>
              <a:t>2520090142</a:t>
            </a:r>
            <a:endParaRPr sz="2400">
              <a:latin typeface="Calibri"/>
              <a:cs typeface="Calibri"/>
            </a:endParaRPr>
          </a:p>
          <a:p>
            <a:pPr marL="12700">
              <a:lnSpc>
                <a:spcPct val="100000"/>
              </a:lnSpc>
              <a:spcBef>
                <a:spcPts val="2875"/>
              </a:spcBef>
            </a:pPr>
            <a:r>
              <a:rPr sz="2400" dirty="0">
                <a:latin typeface="Calibri"/>
                <a:cs typeface="Calibri"/>
              </a:rPr>
              <a:t>III</a:t>
            </a:r>
            <a:r>
              <a:rPr sz="2400" spc="-45" dirty="0">
                <a:latin typeface="Calibri"/>
                <a:cs typeface="Calibri"/>
              </a:rPr>
              <a:t> </a:t>
            </a:r>
            <a:r>
              <a:rPr sz="2400" spc="-35" dirty="0">
                <a:latin typeface="Calibri"/>
                <a:cs typeface="Calibri"/>
              </a:rPr>
              <a:t>Year</a:t>
            </a:r>
            <a:r>
              <a:rPr sz="2400" spc="-15" dirty="0">
                <a:latin typeface="Calibri"/>
                <a:cs typeface="Calibri"/>
              </a:rPr>
              <a:t> </a:t>
            </a:r>
            <a:r>
              <a:rPr sz="2400" spc="-70" dirty="0">
                <a:latin typeface="Calibri"/>
                <a:cs typeface="Calibri"/>
              </a:rPr>
              <a:t>B.Tech-</a:t>
            </a:r>
            <a:r>
              <a:rPr sz="2400" dirty="0">
                <a:latin typeface="Calibri"/>
                <a:cs typeface="Calibri"/>
              </a:rPr>
              <a:t>II</a:t>
            </a:r>
            <a:r>
              <a:rPr sz="2400" spc="-35" dirty="0">
                <a:latin typeface="Calibri"/>
                <a:cs typeface="Calibri"/>
              </a:rPr>
              <a:t> </a:t>
            </a:r>
            <a:r>
              <a:rPr sz="2400" spc="-10" dirty="0">
                <a:latin typeface="Calibri"/>
                <a:cs typeface="Calibri"/>
              </a:rPr>
              <a:t>Semester</a:t>
            </a:r>
            <a:r>
              <a:rPr sz="2400" spc="-2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CS</a:t>
            </a:r>
            <a:r>
              <a:rPr sz="2400" spc="-3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IT</a:t>
            </a:r>
            <a:r>
              <a:rPr sz="2400" spc="-35" dirty="0">
                <a:latin typeface="Calibri"/>
                <a:cs typeface="Calibri"/>
              </a:rPr>
              <a:t> </a:t>
            </a:r>
            <a:r>
              <a:rPr sz="2400" spc="-10" dirty="0">
                <a:latin typeface="Calibri"/>
                <a:cs typeface="Calibri"/>
              </a:rPr>
              <a:t>(AIML)</a:t>
            </a:r>
            <a:endParaRPr sz="2400">
              <a:latin typeface="Calibri"/>
              <a:cs typeface="Calibri"/>
            </a:endParaRPr>
          </a:p>
          <a:p>
            <a:pPr>
              <a:lnSpc>
                <a:spcPct val="100000"/>
              </a:lnSpc>
              <a:spcBef>
                <a:spcPts val="944"/>
              </a:spcBef>
            </a:pPr>
            <a:endParaRPr sz="2400">
              <a:latin typeface="Calibri"/>
              <a:cs typeface="Calibri"/>
            </a:endParaRPr>
          </a:p>
          <a:p>
            <a:pPr marL="1155700" marR="1149985" algn="ctr">
              <a:lnSpc>
                <a:spcPts val="2440"/>
              </a:lnSpc>
            </a:pPr>
            <a:r>
              <a:rPr sz="2400" b="1" dirty="0">
                <a:latin typeface="Calibri"/>
                <a:cs typeface="Calibri"/>
              </a:rPr>
              <a:t>Under</a:t>
            </a:r>
            <a:r>
              <a:rPr sz="2400" b="1" spc="-40" dirty="0">
                <a:latin typeface="Calibri"/>
                <a:cs typeface="Calibri"/>
              </a:rPr>
              <a:t> </a:t>
            </a:r>
            <a:r>
              <a:rPr sz="2400" b="1" dirty="0">
                <a:latin typeface="Calibri"/>
                <a:cs typeface="Calibri"/>
              </a:rPr>
              <a:t>the</a:t>
            </a:r>
            <a:r>
              <a:rPr sz="2400" b="1" spc="-35" dirty="0">
                <a:latin typeface="Calibri"/>
                <a:cs typeface="Calibri"/>
              </a:rPr>
              <a:t> </a:t>
            </a:r>
            <a:r>
              <a:rPr sz="2400" b="1" dirty="0">
                <a:latin typeface="Calibri"/>
                <a:cs typeface="Calibri"/>
              </a:rPr>
              <a:t>Guidance</a:t>
            </a:r>
            <a:r>
              <a:rPr sz="2400" b="1" spc="-45" dirty="0">
                <a:latin typeface="Calibri"/>
                <a:cs typeface="Calibri"/>
              </a:rPr>
              <a:t> </a:t>
            </a:r>
            <a:r>
              <a:rPr sz="2400" b="1" spc="-25" dirty="0">
                <a:latin typeface="Calibri"/>
                <a:cs typeface="Calibri"/>
              </a:rPr>
              <a:t>of </a:t>
            </a:r>
            <a:r>
              <a:rPr sz="2400" b="1" spc="-50" dirty="0">
                <a:solidFill>
                  <a:srgbClr val="FF0000"/>
                </a:solidFill>
                <a:latin typeface="Calibri"/>
                <a:cs typeface="Calibri"/>
              </a:rPr>
              <a:t>Dr.M</a:t>
            </a:r>
            <a:r>
              <a:rPr sz="2400" b="1" spc="-65" dirty="0">
                <a:solidFill>
                  <a:srgbClr val="FF0000"/>
                </a:solidFill>
                <a:latin typeface="Calibri"/>
                <a:cs typeface="Calibri"/>
              </a:rPr>
              <a:t> </a:t>
            </a:r>
            <a:r>
              <a:rPr sz="2400" b="1" spc="-10" dirty="0">
                <a:solidFill>
                  <a:srgbClr val="FF0000"/>
                </a:solidFill>
                <a:latin typeface="Calibri"/>
                <a:cs typeface="Calibri"/>
              </a:rPr>
              <a:t>Gayatri</a:t>
            </a:r>
            <a:endParaRPr sz="2400">
              <a:latin typeface="Calibri"/>
              <a:cs typeface="Calibri"/>
            </a:endParaRPr>
          </a:p>
          <a:p>
            <a:pPr marL="1270" algn="ctr">
              <a:lnSpc>
                <a:spcPts val="2435"/>
              </a:lnSpc>
            </a:pPr>
            <a:r>
              <a:rPr sz="2400" dirty="0">
                <a:latin typeface="Calibri"/>
                <a:cs typeface="Calibri"/>
              </a:rPr>
              <a:t>Associate</a:t>
            </a:r>
            <a:r>
              <a:rPr sz="2400" spc="-95" dirty="0">
                <a:latin typeface="Calibri"/>
                <a:cs typeface="Calibri"/>
              </a:rPr>
              <a:t> </a:t>
            </a:r>
            <a:r>
              <a:rPr sz="2400" spc="-10" dirty="0">
                <a:latin typeface="Calibri"/>
                <a:cs typeface="Calibri"/>
              </a:rPr>
              <a:t>Professor</a:t>
            </a:r>
            <a:endParaRPr sz="24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0" name="object 10" descr="$PPTXTitle"/>
          <p:cNvSpPr txBox="1">
            <a:spLocks noGrp="1"/>
          </p:cNvSpPr>
          <p:nvPr>
            <p:ph type="title"/>
          </p:nvPr>
        </p:nvSpPr>
        <p:spPr>
          <a:xfrm>
            <a:off x="930874" y="337014"/>
            <a:ext cx="2816861" cy="689291"/>
          </a:xfrm>
          <a:prstGeom prst="rect">
            <a:avLst/>
          </a:prstGeom>
        </p:spPr>
        <p:txBody>
          <a:bodyPr vert="horz" wrap="square" lIns="0" tIns="12065" rIns="0" bIns="0" rtlCol="0">
            <a:spAutoFit/>
          </a:bodyPr>
          <a:lstStyle/>
          <a:p>
            <a:pPr marL="12700">
              <a:lnSpc>
                <a:spcPct val="100000"/>
              </a:lnSpc>
              <a:spcBef>
                <a:spcPts val="95"/>
              </a:spcBef>
            </a:pPr>
            <a:r>
              <a:rPr lang="en-IN" spc="-10" dirty="0" smtClean="0">
                <a:solidFill>
                  <a:srgbClr val="00AFEF"/>
                </a:solidFill>
              </a:rPr>
              <a:t>Contents</a:t>
            </a:r>
            <a:endParaRPr spc="-10" dirty="0">
              <a:solidFill>
                <a:srgbClr val="00AFEF"/>
              </a:solidFill>
            </a:endParaRPr>
          </a:p>
        </p:txBody>
      </p:sp>
      <p:sp>
        <p:nvSpPr>
          <p:cNvPr id="11" name="object 11"/>
          <p:cNvSpPr txBox="1"/>
          <p:nvPr/>
        </p:nvSpPr>
        <p:spPr>
          <a:xfrm>
            <a:off x="686978" y="955930"/>
            <a:ext cx="11105135" cy="5362365"/>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Project Title and Team Members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Abstract</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Problem Statement</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Motivation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Objectives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Literature Survey</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Research Gap</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Proposed Methodology</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System Architecture</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Technologies Used</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Dataset / Input Details</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1" name="object 11"/>
          <p:cNvSpPr txBox="1"/>
          <p:nvPr/>
        </p:nvSpPr>
        <p:spPr>
          <a:xfrm>
            <a:off x="686978" y="955930"/>
            <a:ext cx="11105135" cy="3900427"/>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Implementation</a:t>
            </a:r>
            <a:endParaRPr lang="en-IN" sz="2500" dirty="0" smtClean="0">
              <a:latin typeface="Times New Roman"/>
              <a:cs typeface="Times New Roman"/>
            </a:endParaRP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Experimental </a:t>
            </a:r>
            <a:r>
              <a:rPr lang="en-IN" sz="2500" dirty="0" smtClean="0">
                <a:latin typeface="Times New Roman"/>
                <a:cs typeface="Times New Roman"/>
              </a:rPr>
              <a:t>Setup</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Results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Performance Evaluation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Screenshots / Working Demo</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Comparison with Existing System</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Challenges and Solutions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Future Work</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178384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1" name="object 11"/>
          <p:cNvSpPr txBox="1"/>
          <p:nvPr/>
        </p:nvSpPr>
        <p:spPr>
          <a:xfrm>
            <a:off x="686978" y="955930"/>
            <a:ext cx="11105135" cy="976549"/>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Conclusion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References</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756155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2105025" cy="69596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6" name="object 6"/>
          <p:cNvSpPr txBox="1"/>
          <p:nvPr/>
        </p:nvSpPr>
        <p:spPr>
          <a:xfrm>
            <a:off x="916939" y="1030478"/>
            <a:ext cx="10360025" cy="5607304"/>
          </a:xfrm>
          <a:prstGeom prst="rect">
            <a:avLst/>
          </a:prstGeom>
        </p:spPr>
        <p:txBody>
          <a:bodyPr vert="horz" wrap="square" lIns="0" tIns="66675" rIns="0" bIns="0" rtlCol="0">
            <a:spAutoFit/>
          </a:bodyPr>
          <a:lstStyle/>
          <a:p>
            <a:pPr marL="12700" marR="5080" algn="just">
              <a:lnSpc>
                <a:spcPct val="90100"/>
              </a:lnSpc>
              <a:spcBef>
                <a:spcPts val="525"/>
              </a:spcBef>
            </a:pPr>
            <a:r>
              <a:rPr sz="4000" dirty="0">
                <a:latin typeface="Times New Roman" panose="02020603050405020304" pitchFamily="18" charset="0"/>
                <a:cs typeface="Times New Roman" panose="02020603050405020304" pitchFamily="18" charset="0"/>
              </a:rPr>
              <a:t>The</a:t>
            </a:r>
            <a:r>
              <a:rPr sz="4000" spc="6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system</a:t>
            </a:r>
            <a:r>
              <a:rPr sz="4000" spc="6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streamlines</a:t>
            </a:r>
            <a:r>
              <a:rPr sz="4000" spc="6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ticket</a:t>
            </a:r>
            <a:r>
              <a:rPr sz="4000" spc="63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booking</a:t>
            </a:r>
            <a:r>
              <a:rPr sz="4000" spc="6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with</a:t>
            </a:r>
            <a:r>
              <a:rPr sz="4000" spc="635" dirty="0">
                <a:latin typeface="Times New Roman" panose="02020603050405020304" pitchFamily="18" charset="0"/>
                <a:cs typeface="Times New Roman" panose="02020603050405020304" pitchFamily="18" charset="0"/>
              </a:rPr>
              <a:t> </a:t>
            </a:r>
            <a:r>
              <a:rPr sz="4000" spc="-15" dirty="0">
                <a:latin typeface="Times New Roman" panose="02020603050405020304" pitchFamily="18" charset="0"/>
                <a:cs typeface="Times New Roman" panose="02020603050405020304" pitchFamily="18" charset="0"/>
              </a:rPr>
              <a:t>real-</a:t>
            </a:r>
            <a:r>
              <a:rPr sz="4000" spc="-20" dirty="0">
                <a:latin typeface="Times New Roman" panose="02020603050405020304" pitchFamily="18" charset="0"/>
                <a:cs typeface="Times New Roman" panose="02020603050405020304" pitchFamily="18" charset="0"/>
              </a:rPr>
              <a:t>time </a:t>
            </a:r>
            <a:r>
              <a:rPr sz="4000" dirty="0">
                <a:latin typeface="Times New Roman" panose="02020603050405020304" pitchFamily="18" charset="0"/>
                <a:cs typeface="Times New Roman" panose="02020603050405020304" pitchFamily="18" charset="0"/>
              </a:rPr>
              <a:t>seat availability, secure online payments, instant </a:t>
            </a:r>
            <a:r>
              <a:rPr sz="4000" spc="-25" dirty="0">
                <a:latin typeface="Times New Roman" panose="02020603050405020304" pitchFamily="18" charset="0"/>
                <a:cs typeface="Times New Roman" panose="02020603050405020304" pitchFamily="18" charset="0"/>
              </a:rPr>
              <a:t>e-</a:t>
            </a:r>
            <a:r>
              <a:rPr sz="4000" dirty="0">
                <a:latin typeface="Times New Roman" panose="02020603050405020304" pitchFamily="18" charset="0"/>
                <a:cs typeface="Times New Roman" panose="02020603050405020304" pitchFamily="18" charset="0"/>
              </a:rPr>
              <a:t>ticket</a:t>
            </a:r>
            <a:r>
              <a:rPr sz="4000" spc="6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generation,</a:t>
            </a:r>
            <a:r>
              <a:rPr sz="4000" spc="6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6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automated</a:t>
            </a:r>
            <a:r>
              <a:rPr sz="4000" spc="610"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cancellation/refund </a:t>
            </a:r>
            <a:r>
              <a:rPr sz="4000" dirty="0">
                <a:latin typeface="Times New Roman" panose="02020603050405020304" pitchFamily="18" charset="0"/>
                <a:cs typeface="Times New Roman" panose="02020603050405020304" pitchFamily="18" charset="0"/>
              </a:rPr>
              <a:t>processing,</a:t>
            </a:r>
            <a:r>
              <a:rPr sz="4000" spc="229"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making</a:t>
            </a:r>
            <a:r>
              <a:rPr sz="4000" spc="2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the</a:t>
            </a:r>
            <a:r>
              <a:rPr sz="4000" spc="22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entire</a:t>
            </a:r>
            <a:r>
              <a:rPr sz="4000" spc="2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process</a:t>
            </a:r>
            <a:r>
              <a:rPr sz="4000" spc="23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faster</a:t>
            </a:r>
            <a:r>
              <a:rPr sz="4000" spc="2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229"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more </a:t>
            </a:r>
            <a:r>
              <a:rPr sz="4000" spc="-10" dirty="0">
                <a:latin typeface="Times New Roman" panose="02020603050405020304" pitchFamily="18" charset="0"/>
                <a:cs typeface="Times New Roman" panose="02020603050405020304" pitchFamily="18" charset="0"/>
              </a:rPr>
              <a:t>user-</a:t>
            </a:r>
            <a:r>
              <a:rPr sz="4000" dirty="0">
                <a:latin typeface="Times New Roman" panose="02020603050405020304" pitchFamily="18" charset="0"/>
                <a:cs typeface="Times New Roman" panose="02020603050405020304" pitchFamily="18" charset="0"/>
              </a:rPr>
              <a:t>friendly.Built</a:t>
            </a:r>
            <a:r>
              <a:rPr sz="4000" spc="5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on</a:t>
            </a:r>
            <a:r>
              <a:rPr sz="4000" spc="509"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a:t>
            </a:r>
            <a:r>
              <a:rPr sz="4000" spc="52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scalable</a:t>
            </a:r>
            <a:r>
              <a:rPr sz="4000" spc="49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multi-</a:t>
            </a:r>
            <a:r>
              <a:rPr sz="4000" dirty="0">
                <a:latin typeface="Times New Roman" panose="02020603050405020304" pitchFamily="18" charset="0"/>
                <a:cs typeface="Times New Roman" panose="02020603050405020304" pitchFamily="18" charset="0"/>
              </a:rPr>
              <a:t>tier</a:t>
            </a:r>
            <a:r>
              <a:rPr sz="4000" spc="5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design</a:t>
            </a:r>
            <a:r>
              <a:rPr sz="4000" spc="51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with </a:t>
            </a:r>
            <a:r>
              <a:rPr sz="4000" dirty="0">
                <a:latin typeface="Times New Roman" panose="02020603050405020304" pitchFamily="18" charset="0"/>
                <a:cs typeface="Times New Roman" panose="02020603050405020304" pitchFamily="18" charset="0"/>
              </a:rPr>
              <a:t>RDBMS</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support,</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it</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ensures</a:t>
            </a:r>
            <a:r>
              <a:rPr sz="4000" spc="55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ACID-</a:t>
            </a:r>
            <a:r>
              <a:rPr sz="4000" spc="-10" dirty="0">
                <a:latin typeface="Times New Roman" panose="02020603050405020304" pitchFamily="18" charset="0"/>
                <a:cs typeface="Times New Roman" panose="02020603050405020304" pitchFamily="18" charset="0"/>
              </a:rPr>
              <a:t>compliant </a:t>
            </a:r>
            <a:r>
              <a:rPr sz="4000" dirty="0">
                <a:latin typeface="Times New Roman" panose="02020603050405020304" pitchFamily="18" charset="0"/>
                <a:cs typeface="Times New Roman" panose="02020603050405020304" pitchFamily="18" charset="0"/>
              </a:rPr>
              <a:t>transactions,</a:t>
            </a:r>
            <a:r>
              <a:rPr sz="4000" spc="1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high</a:t>
            </a:r>
            <a:r>
              <a:rPr sz="4000" spc="1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concurrency</a:t>
            </a:r>
            <a:r>
              <a:rPr sz="4000" spc="1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handling,</a:t>
            </a:r>
            <a:r>
              <a:rPr sz="4000" spc="1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1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strong </a:t>
            </a:r>
            <a:r>
              <a:rPr sz="4000" dirty="0">
                <a:latin typeface="Times New Roman" panose="02020603050405020304" pitchFamily="18" charset="0"/>
                <a:cs typeface="Times New Roman" panose="02020603050405020304" pitchFamily="18" charset="0"/>
              </a:rPr>
              <a:t>security through encrypted authentication and </a:t>
            </a:r>
            <a:r>
              <a:rPr sz="4000" spc="-10" dirty="0">
                <a:latin typeface="Times New Roman" panose="02020603050405020304" pitchFamily="18" charset="0"/>
                <a:cs typeface="Times New Roman" panose="02020603050405020304" pitchFamily="18" charset="0"/>
              </a:rPr>
              <a:t>role-</a:t>
            </a:r>
            <a:r>
              <a:rPr sz="4000" dirty="0">
                <a:latin typeface="Times New Roman" panose="02020603050405020304" pitchFamily="18" charset="0"/>
                <a:cs typeface="Times New Roman" panose="02020603050405020304" pitchFamily="18" charset="0"/>
              </a:rPr>
              <a:t>based</a:t>
            </a:r>
            <a:r>
              <a:rPr sz="4000" spc="-7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access</a:t>
            </a:r>
            <a:r>
              <a:rPr sz="4000" spc="-60" dirty="0">
                <a:latin typeface="Times New Roman" panose="02020603050405020304" pitchFamily="18" charset="0"/>
                <a:cs typeface="Times New Roman" panose="02020603050405020304" pitchFamily="18" charset="0"/>
              </a:rPr>
              <a:t> </a:t>
            </a:r>
            <a:r>
              <a:rPr sz="4000" spc="-10" dirty="0" smtClean="0">
                <a:latin typeface="Times New Roman" panose="02020603050405020304" pitchFamily="18" charset="0"/>
                <a:cs typeface="Times New Roman" panose="02020603050405020304" pitchFamily="18" charset="0"/>
              </a:rPr>
              <a:t>controls</a:t>
            </a:r>
            <a:r>
              <a:rPr lang="en-US" sz="4000" spc="-10" dirty="0" smtClean="0">
                <a:latin typeface="Times New Roman" panose="02020603050405020304" pitchFamily="18" charset="0"/>
                <a:cs typeface="Times New Roman" panose="02020603050405020304" pitchFamily="18" charset="0"/>
              </a:rPr>
              <a:t>.</a:t>
            </a:r>
            <a:endParaRPr sz="40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Problem Statement</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Traditional manual ticketing suffers from long queues, operational errors, and inefficient seat tracking. The proposed Railway Reservation System provides a secure digital platform featuring real-time availability checks, instant PNR generation, automated cancellations, and scalable database architecture to streamline train management and passenger bookings.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28072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Motivation</a:t>
            </a:r>
            <a:endParaRPr spc="-10" dirty="0"/>
          </a:p>
        </p:txBody>
      </p:sp>
      <p:sp>
        <p:nvSpPr>
          <p:cNvPr id="6" name="object 6"/>
          <p:cNvSpPr txBox="1"/>
          <p:nvPr/>
        </p:nvSpPr>
        <p:spPr>
          <a:xfrm>
            <a:off x="916939" y="1030478"/>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Traditional manual ticketing workflows cause long queues, human errors, and lack real-time visibility. This project is motivated by the need for an automated, secure digital platform that provides instant booking, live seat availability, and efficient cancellations to enhance convenience and operational efficiency.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7</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515985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Objectives</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The objective is to automate ticket reservations, streamline passenger management, enable real-time seat availability tracking with instant PNR generation, and build a scalable multi-tier architecture backed by an RDBMS to ensure transaction integrity, ACID compliance, and high concurrency during peak booking windows.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8</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956455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Literature Survey</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Existing literature highlights manual ticketing drawbacks, including long queues, data errors, and poor seat tracking. Current research emphasizes web platforms utilizing multi-tier architectures, RDBMS, and real-time synchronization to ensure ACID compliance, high concurrency handling, secure authentication, and seamless travel management.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9</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379172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Research Gap</a:t>
            </a:r>
            <a:endParaRPr spc="-10" dirty="0"/>
          </a:p>
        </p:txBody>
      </p:sp>
      <p:sp>
        <p:nvSpPr>
          <p:cNvPr id="6" name="object 6"/>
          <p:cNvSpPr txBox="1"/>
          <p:nvPr/>
        </p:nvSpPr>
        <p:spPr>
          <a:xfrm>
            <a:off x="916939" y="1030478"/>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Existing systems struggle with severe performance bottlenecks during peak booking windows, failing to handle high concurrency while maintaining ACID compliance. They often lack integrated real-time seat locking, automated cancellation workflows, and lightweight caching mechanisms, resulting in overbooking and data inconsistencies.</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10</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83430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Proposed Methodology</a:t>
            </a:r>
            <a:endParaRPr spc="-10" dirty="0"/>
          </a:p>
        </p:txBody>
      </p:sp>
      <p:sp>
        <p:nvSpPr>
          <p:cNvPr id="6" name="object 6"/>
          <p:cNvSpPr txBox="1"/>
          <p:nvPr/>
        </p:nvSpPr>
        <p:spPr>
          <a:xfrm>
            <a:off x="916939" y="1030478"/>
            <a:ext cx="10360025" cy="5385705"/>
          </a:xfrm>
          <a:prstGeom prst="rect">
            <a:avLst/>
          </a:prstGeom>
        </p:spPr>
        <p:txBody>
          <a:bodyPr vert="horz" wrap="square" lIns="0" tIns="66675" rIns="0" bIns="0" rtlCol="0">
            <a:spAutoFit/>
          </a:bodyPr>
          <a:lstStyle/>
          <a:p>
            <a:pPr marL="12700" marR="5080" algn="just">
              <a:lnSpc>
                <a:spcPct val="90100"/>
              </a:lnSpc>
              <a:spcBef>
                <a:spcPts val="525"/>
              </a:spcBef>
            </a:pPr>
            <a:r>
              <a:rPr lang="en-IN" sz="4800" dirty="0" smtClean="0">
                <a:latin typeface="Times New Roman" panose="02020603050405020304" pitchFamily="18" charset="0"/>
                <a:cs typeface="Times New Roman" panose="02020603050405020304" pitchFamily="18" charset="0"/>
              </a:rPr>
              <a:t>The proposed methodology utilizes a MERN/PERN stack featuring React.js for UI, Node.js and Express for REST APIs, and Socket.io for real-time updates. PostgreSQL with </a:t>
            </a:r>
            <a:r>
              <a:rPr lang="en-IN" sz="4800" dirty="0" err="1" smtClean="0">
                <a:latin typeface="Times New Roman" panose="02020603050405020304" pitchFamily="18" charset="0"/>
                <a:cs typeface="Times New Roman" panose="02020603050405020304" pitchFamily="18" charset="0"/>
              </a:rPr>
              <a:t>Redis</a:t>
            </a:r>
            <a:r>
              <a:rPr lang="en-IN" sz="4800" dirty="0" smtClean="0">
                <a:latin typeface="Times New Roman" panose="02020603050405020304" pitchFamily="18" charset="0"/>
                <a:cs typeface="Times New Roman" panose="02020603050405020304" pitchFamily="18" charset="0"/>
              </a:rPr>
              <a:t> caching ensures fast seat locking, ACID compliance, transaction integrity, and high concurrency management.</a:t>
            </a:r>
            <a:endParaRPr sz="48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11</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22724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System Architecture</a:t>
            </a:r>
            <a:endParaRPr spc="-10" dirty="0"/>
          </a:p>
        </p:txBody>
      </p:sp>
      <p:sp>
        <p:nvSpPr>
          <p:cNvPr id="6" name="object 6"/>
          <p:cNvSpPr txBox="1"/>
          <p:nvPr/>
        </p:nvSpPr>
        <p:spPr>
          <a:xfrm>
            <a:off x="916939" y="1030478"/>
            <a:ext cx="10360025" cy="5385705"/>
          </a:xfrm>
          <a:prstGeom prst="rect">
            <a:avLst/>
          </a:prstGeom>
        </p:spPr>
        <p:txBody>
          <a:bodyPr vert="horz" wrap="square" lIns="0" tIns="66675" rIns="0" bIns="0" rtlCol="0">
            <a:spAutoFit/>
          </a:bodyPr>
          <a:lstStyle/>
          <a:p>
            <a:pPr marL="12700" marR="5080" algn="just">
              <a:lnSpc>
                <a:spcPct val="90100"/>
              </a:lnSpc>
              <a:spcBef>
                <a:spcPts val="525"/>
              </a:spcBef>
            </a:pPr>
            <a:r>
              <a:rPr lang="en-IN" sz="4800" dirty="0" smtClean="0">
                <a:latin typeface="Times New Roman" panose="02020603050405020304" pitchFamily="18" charset="0"/>
                <a:cs typeface="Times New Roman" panose="02020603050405020304" pitchFamily="18" charset="0"/>
              </a:rPr>
              <a:t>The system architecture features a multi-tier design: a React.js client frontend communicating via </a:t>
            </a:r>
            <a:r>
              <a:rPr lang="en-IN" sz="4800" dirty="0" err="1" smtClean="0">
                <a:latin typeface="Times New Roman" panose="02020603050405020304" pitchFamily="18" charset="0"/>
                <a:cs typeface="Times New Roman" panose="02020603050405020304" pitchFamily="18" charset="0"/>
              </a:rPr>
              <a:t>Axios</a:t>
            </a:r>
            <a:r>
              <a:rPr lang="en-IN" sz="4800" dirty="0" smtClean="0">
                <a:latin typeface="Times New Roman" panose="02020603050405020304" pitchFamily="18" charset="0"/>
                <a:cs typeface="Times New Roman" panose="02020603050405020304" pitchFamily="18" charset="0"/>
              </a:rPr>
              <a:t> REST APIs and Socket.io to a Node.js/Express backend. Data persistence uses PostgreSQL managed through </a:t>
            </a:r>
            <a:r>
              <a:rPr lang="en-IN" sz="4800" dirty="0" err="1" smtClean="0">
                <a:latin typeface="Times New Roman" panose="02020603050405020304" pitchFamily="18" charset="0"/>
                <a:cs typeface="Times New Roman" panose="02020603050405020304" pitchFamily="18" charset="0"/>
              </a:rPr>
              <a:t>Prisma</a:t>
            </a:r>
            <a:r>
              <a:rPr lang="en-IN" sz="4800" dirty="0" smtClean="0">
                <a:latin typeface="Times New Roman" panose="02020603050405020304" pitchFamily="18" charset="0"/>
                <a:cs typeface="Times New Roman" panose="02020603050405020304" pitchFamily="18" charset="0"/>
              </a:rPr>
              <a:t>/</a:t>
            </a:r>
            <a:r>
              <a:rPr lang="en-IN" sz="4800" dirty="0" err="1" smtClean="0">
                <a:latin typeface="Times New Roman" panose="02020603050405020304" pitchFamily="18" charset="0"/>
                <a:cs typeface="Times New Roman" panose="02020603050405020304" pitchFamily="18" charset="0"/>
              </a:rPr>
              <a:t>TypeORM</a:t>
            </a:r>
            <a:r>
              <a:rPr lang="en-IN" sz="4800" dirty="0" smtClean="0">
                <a:latin typeface="Times New Roman" panose="02020603050405020304" pitchFamily="18" charset="0"/>
                <a:cs typeface="Times New Roman" panose="02020603050405020304" pitchFamily="18" charset="0"/>
              </a:rPr>
              <a:t>, paired with </a:t>
            </a:r>
            <a:r>
              <a:rPr lang="en-IN" sz="4800" dirty="0" err="1" smtClean="0">
                <a:latin typeface="Times New Roman" panose="02020603050405020304" pitchFamily="18" charset="0"/>
                <a:cs typeface="Times New Roman" panose="02020603050405020304" pitchFamily="18" charset="0"/>
              </a:rPr>
              <a:t>Redis</a:t>
            </a:r>
            <a:r>
              <a:rPr lang="en-IN" sz="4800" dirty="0" smtClean="0">
                <a:latin typeface="Times New Roman" panose="02020603050405020304" pitchFamily="18" charset="0"/>
                <a:cs typeface="Times New Roman" panose="02020603050405020304" pitchFamily="18" charset="0"/>
              </a:rPr>
              <a:t> caching for instant seat inventory locking.</a:t>
            </a:r>
            <a:endParaRPr sz="48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12</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507756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Technologies Used</a:t>
            </a:r>
            <a:endParaRPr spc="-10" dirty="0"/>
          </a:p>
        </p:txBody>
      </p:sp>
      <p:sp>
        <p:nvSpPr>
          <p:cNvPr id="6" name="object 6"/>
          <p:cNvSpPr txBox="1"/>
          <p:nvPr/>
        </p:nvSpPr>
        <p:spPr>
          <a:xfrm>
            <a:off x="851161" y="1055946"/>
            <a:ext cx="10360025" cy="5175391"/>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The project utilizes React.js, Tailwind CSS, and </a:t>
            </a:r>
            <a:r>
              <a:rPr lang="en-IN" sz="4600" dirty="0" err="1" smtClean="0">
                <a:latin typeface="Times New Roman" panose="02020603050405020304" pitchFamily="18" charset="0"/>
                <a:cs typeface="Times New Roman" panose="02020603050405020304" pitchFamily="18" charset="0"/>
              </a:rPr>
              <a:t>Redux</a:t>
            </a:r>
            <a:r>
              <a:rPr lang="en-IN" sz="4600" dirty="0" smtClean="0">
                <a:latin typeface="Times New Roman" panose="02020603050405020304" pitchFamily="18" charset="0"/>
                <a:cs typeface="Times New Roman" panose="02020603050405020304" pitchFamily="18" charset="0"/>
              </a:rPr>
              <a:t> Toolkit for the frontend. The backend is powered by Node.js, Express.js, and Socket.io for real-time updates. Database management incorporates PostgreSQL via </a:t>
            </a:r>
            <a:r>
              <a:rPr lang="en-IN" sz="4600" dirty="0" err="1" smtClean="0">
                <a:latin typeface="Times New Roman" panose="02020603050405020304" pitchFamily="18" charset="0"/>
                <a:cs typeface="Times New Roman" panose="02020603050405020304" pitchFamily="18" charset="0"/>
              </a:rPr>
              <a:t>Prisma</a:t>
            </a:r>
            <a:r>
              <a:rPr lang="en-IN" sz="4600" dirty="0" smtClean="0">
                <a:latin typeface="Times New Roman" panose="02020603050405020304" pitchFamily="18" charset="0"/>
                <a:cs typeface="Times New Roman" panose="02020603050405020304" pitchFamily="18" charset="0"/>
              </a:rPr>
              <a:t>/</a:t>
            </a:r>
            <a:r>
              <a:rPr lang="en-IN" sz="4600" dirty="0" err="1" smtClean="0">
                <a:latin typeface="Times New Roman" panose="02020603050405020304" pitchFamily="18" charset="0"/>
                <a:cs typeface="Times New Roman" panose="02020603050405020304" pitchFamily="18" charset="0"/>
              </a:rPr>
              <a:t>TypeORM</a:t>
            </a:r>
            <a:r>
              <a:rPr lang="en-IN" sz="4600" dirty="0" smtClean="0">
                <a:latin typeface="Times New Roman" panose="02020603050405020304" pitchFamily="18" charset="0"/>
                <a:cs typeface="Times New Roman" panose="02020603050405020304" pitchFamily="18" charset="0"/>
              </a:rPr>
              <a:t>, paired with </a:t>
            </a:r>
            <a:r>
              <a:rPr lang="en-IN" sz="4600" dirty="0" err="1" smtClean="0">
                <a:latin typeface="Times New Roman" panose="02020603050405020304" pitchFamily="18" charset="0"/>
                <a:cs typeface="Times New Roman" panose="02020603050405020304" pitchFamily="18" charset="0"/>
              </a:rPr>
              <a:t>Redis</a:t>
            </a:r>
            <a:r>
              <a:rPr lang="en-IN" sz="4600" dirty="0" smtClean="0">
                <a:latin typeface="Times New Roman" panose="02020603050405020304" pitchFamily="18" charset="0"/>
                <a:cs typeface="Times New Roman" panose="02020603050405020304" pitchFamily="18" charset="0"/>
              </a:rPr>
              <a:t> caching for high-concurrency inventory locking.</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13</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591845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Dataset / Input Details</a:t>
            </a:r>
            <a:endParaRPr spc="-10" dirty="0"/>
          </a:p>
        </p:txBody>
      </p:sp>
      <p:sp>
        <p:nvSpPr>
          <p:cNvPr id="6" name="object 6"/>
          <p:cNvSpPr txBox="1"/>
          <p:nvPr/>
        </p:nvSpPr>
        <p:spPr>
          <a:xfrm>
            <a:off x="851161" y="1055946"/>
            <a:ext cx="10360025" cy="5274906"/>
          </a:xfrm>
          <a:prstGeom prst="rect">
            <a:avLst/>
          </a:prstGeom>
        </p:spPr>
        <p:txBody>
          <a:bodyPr vert="horz" wrap="square" lIns="0" tIns="66675" rIns="0" bIns="0" rtlCol="0">
            <a:spAutoFit/>
          </a:bodyPr>
          <a:lstStyle/>
          <a:p>
            <a:pPr marL="12700" marR="5080" algn="just">
              <a:lnSpc>
                <a:spcPct val="90100"/>
              </a:lnSpc>
              <a:spcBef>
                <a:spcPts val="525"/>
              </a:spcBef>
            </a:pPr>
            <a:r>
              <a:rPr lang="en-US" sz="4700" dirty="0" smtClean="0">
                <a:latin typeface="Times New Roman" panose="02020603050405020304" pitchFamily="18" charset="0"/>
                <a:cs typeface="Times New Roman" panose="02020603050405020304" pitchFamily="18" charset="0"/>
              </a:rPr>
              <a:t>The system uses structured relational data for users, train schedules, routes, seat inventory, and transactions. Inputs include search parameters (source, destination, date, travel class), passenger details, payment credentials, cancellation requests, and admin updates for fares, schedules, and train capacities.</a:t>
            </a:r>
            <a:endParaRPr sz="47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14</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179495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3" cstate="print"/>
            <a:stretch>
              <a:fillRect/>
            </a:stretch>
          </p:blipFill>
          <p:spPr>
            <a:xfrm>
              <a:off x="11353800" y="0"/>
              <a:ext cx="822198" cy="822198"/>
            </a:xfrm>
            <a:prstGeom prst="rect">
              <a:avLst/>
            </a:prstGeom>
          </p:spPr>
        </p:pic>
        <p:pic>
          <p:nvPicPr>
            <p:cNvPr id="4" name="object 4"/>
            <p:cNvPicPr/>
            <p:nvPr/>
          </p:nvPicPr>
          <p:blipFill>
            <a:blip r:embed="rId4"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Implementation </a:t>
            </a:r>
            <a:endParaRPr spc="-10" dirty="0"/>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182" y="1163349"/>
            <a:ext cx="11083636" cy="5044666"/>
          </a:xfrm>
          <a:prstGeom prst="rect">
            <a:avLst/>
          </a:prstGeom>
        </p:spPr>
      </p:pic>
    </p:spTree>
    <p:extLst>
      <p:ext uri="{BB962C8B-B14F-4D97-AF65-F5344CB8AC3E}">
        <p14:creationId xmlns:p14="http://schemas.microsoft.com/office/powerpoint/2010/main" val="836470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Experimental Setup</a:t>
            </a:r>
            <a:endParaRPr spc="-10" dirty="0"/>
          </a:p>
        </p:txBody>
      </p:sp>
      <p:sp>
        <p:nvSpPr>
          <p:cNvPr id="6" name="object 6"/>
          <p:cNvSpPr txBox="1"/>
          <p:nvPr/>
        </p:nvSpPr>
        <p:spPr>
          <a:xfrm>
            <a:off x="851161" y="1055946"/>
            <a:ext cx="10360025" cy="5274906"/>
          </a:xfrm>
          <a:prstGeom prst="rect">
            <a:avLst/>
          </a:prstGeom>
        </p:spPr>
        <p:txBody>
          <a:bodyPr vert="horz" wrap="square" lIns="0" tIns="66675" rIns="0" bIns="0" rtlCol="0">
            <a:spAutoFit/>
          </a:bodyPr>
          <a:lstStyle/>
          <a:p>
            <a:pPr marL="12700" marR="5080" algn="just">
              <a:lnSpc>
                <a:spcPct val="90100"/>
              </a:lnSpc>
              <a:spcBef>
                <a:spcPts val="525"/>
              </a:spcBef>
            </a:pPr>
            <a:r>
              <a:rPr lang="en-IN" sz="4700" dirty="0" smtClean="0">
                <a:latin typeface="Times New Roman" panose="02020603050405020304" pitchFamily="18" charset="0"/>
                <a:cs typeface="Times New Roman" panose="02020603050405020304" pitchFamily="18" charset="0"/>
              </a:rPr>
              <a:t>The experimental setup utilizes a Node.js runtime with Express.js APIs running on a multi-core server environment. Client requests are executed via React.js web interfaces. Data testing leverages PostgreSQL databases connected through </a:t>
            </a:r>
            <a:r>
              <a:rPr lang="en-IN" sz="4700" dirty="0" err="1" smtClean="0">
                <a:latin typeface="Times New Roman" panose="02020603050405020304" pitchFamily="18" charset="0"/>
                <a:cs typeface="Times New Roman" panose="02020603050405020304" pitchFamily="18" charset="0"/>
              </a:rPr>
              <a:t>Prisma</a:t>
            </a:r>
            <a:r>
              <a:rPr lang="en-IN" sz="4700" dirty="0" smtClean="0">
                <a:latin typeface="Times New Roman" panose="02020603050405020304" pitchFamily="18" charset="0"/>
                <a:cs typeface="Times New Roman" panose="02020603050405020304" pitchFamily="18" charset="0"/>
              </a:rPr>
              <a:t> ORM alongside </a:t>
            </a:r>
            <a:r>
              <a:rPr lang="en-IN" sz="4700" dirty="0" err="1" smtClean="0">
                <a:latin typeface="Times New Roman" panose="02020603050405020304" pitchFamily="18" charset="0"/>
                <a:cs typeface="Times New Roman" panose="02020603050405020304" pitchFamily="18" charset="0"/>
              </a:rPr>
              <a:t>Redis</a:t>
            </a:r>
            <a:r>
              <a:rPr lang="en-IN" sz="4700" dirty="0" smtClean="0">
                <a:latin typeface="Times New Roman" panose="02020603050405020304" pitchFamily="18" charset="0"/>
                <a:cs typeface="Times New Roman" panose="02020603050405020304" pitchFamily="18" charset="0"/>
              </a:rPr>
              <a:t> in-memory caching for concurrent load benchmarking. </a:t>
            </a:r>
            <a:endParaRPr sz="47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933093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Results</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17</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182" y="1163348"/>
            <a:ext cx="11083636" cy="5070721"/>
          </a:xfrm>
          <a:prstGeom prst="rect">
            <a:avLst/>
          </a:prstGeom>
        </p:spPr>
      </p:pic>
    </p:spTree>
    <p:extLst>
      <p:ext uri="{BB962C8B-B14F-4D97-AF65-F5344CB8AC3E}">
        <p14:creationId xmlns:p14="http://schemas.microsoft.com/office/powerpoint/2010/main" val="2790839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Performance Evaluation</a:t>
            </a:r>
            <a:endParaRPr spc="-10" dirty="0"/>
          </a:p>
        </p:txBody>
      </p:sp>
      <p:sp>
        <p:nvSpPr>
          <p:cNvPr id="6" name="object 6"/>
          <p:cNvSpPr txBox="1"/>
          <p:nvPr/>
        </p:nvSpPr>
        <p:spPr>
          <a:xfrm>
            <a:off x="851161" y="1055946"/>
            <a:ext cx="10360025" cy="4720908"/>
          </a:xfrm>
          <a:prstGeom prst="rect">
            <a:avLst/>
          </a:prstGeom>
        </p:spPr>
        <p:txBody>
          <a:bodyPr vert="horz" wrap="square" lIns="0" tIns="66675" rIns="0" bIns="0" rtlCol="0">
            <a:spAutoFit/>
          </a:bodyPr>
          <a:lstStyle/>
          <a:p>
            <a:pPr marL="12700" marR="5080" algn="just">
              <a:lnSpc>
                <a:spcPct val="90100"/>
              </a:lnSpc>
              <a:spcBef>
                <a:spcPts val="525"/>
              </a:spcBef>
            </a:pPr>
            <a:r>
              <a:rPr lang="en-US" sz="4800" dirty="0" smtClean="0">
                <a:latin typeface="Times New Roman" panose="02020603050405020304" pitchFamily="18" charset="0"/>
                <a:cs typeface="Times New Roman" panose="02020603050405020304" pitchFamily="18" charset="0"/>
              </a:rPr>
              <a:t>Evaluated under peak loads using </a:t>
            </a:r>
            <a:r>
              <a:rPr lang="en-US" sz="4800" dirty="0" err="1" smtClean="0">
                <a:latin typeface="Times New Roman" panose="02020603050405020304" pitchFamily="18" charset="0"/>
                <a:cs typeface="Times New Roman" panose="02020603050405020304" pitchFamily="18" charset="0"/>
              </a:rPr>
              <a:t>JMeter</a:t>
            </a:r>
            <a:r>
              <a:rPr lang="en-US" sz="4800" dirty="0" smtClean="0">
                <a:latin typeface="Times New Roman" panose="02020603050405020304" pitchFamily="18" charset="0"/>
                <a:cs typeface="Times New Roman" panose="02020603050405020304" pitchFamily="18" charset="0"/>
              </a:rPr>
              <a:t> and </a:t>
            </a:r>
            <a:r>
              <a:rPr lang="en-US" sz="4800" dirty="0" err="1" smtClean="0">
                <a:latin typeface="Times New Roman" panose="02020603050405020304" pitchFamily="18" charset="0"/>
                <a:cs typeface="Times New Roman" panose="02020603050405020304" pitchFamily="18" charset="0"/>
              </a:rPr>
              <a:t>Redis</a:t>
            </a:r>
            <a:r>
              <a:rPr lang="en-US" sz="4800" dirty="0" smtClean="0">
                <a:latin typeface="Times New Roman" panose="02020603050405020304" pitchFamily="18" charset="0"/>
                <a:cs typeface="Times New Roman" panose="02020603050405020304" pitchFamily="18" charset="0"/>
              </a:rPr>
              <a:t> locking, the system ensured 100% ACID compliance with 0% double-booking. B-Tree indexing cut query latency by 78% (&lt;40 </a:t>
            </a:r>
            <a:r>
              <a:rPr lang="en-US" sz="4800" dirty="0" err="1" smtClean="0">
                <a:latin typeface="Times New Roman" panose="02020603050405020304" pitchFamily="18" charset="0"/>
                <a:cs typeface="Times New Roman" panose="02020603050405020304" pitchFamily="18" charset="0"/>
              </a:rPr>
              <a:t>ms</a:t>
            </a:r>
            <a:r>
              <a:rPr lang="en-US" sz="4800" dirty="0" smtClean="0">
                <a:latin typeface="Times New Roman" panose="02020603050405020304" pitchFamily="18" charset="0"/>
                <a:cs typeface="Times New Roman" panose="02020603050405020304" pitchFamily="18" charset="0"/>
              </a:rPr>
              <a:t>), while Socket.io maintained sub-100 </a:t>
            </a:r>
            <a:r>
              <a:rPr lang="en-US" sz="4800" dirty="0" err="1" smtClean="0">
                <a:latin typeface="Times New Roman" panose="02020603050405020304" pitchFamily="18" charset="0"/>
                <a:cs typeface="Times New Roman" panose="02020603050405020304" pitchFamily="18" charset="0"/>
              </a:rPr>
              <a:t>ms</a:t>
            </a:r>
            <a:r>
              <a:rPr lang="en-US" sz="4800" dirty="0" smtClean="0">
                <a:latin typeface="Times New Roman" panose="02020603050405020304" pitchFamily="18" charset="0"/>
                <a:cs typeface="Times New Roman" panose="02020603050405020304" pitchFamily="18" charset="0"/>
              </a:rPr>
              <a:t> real-time seat synchronization across concurrent users.</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18</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434971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Screenshots / Working Demo</a:t>
            </a:r>
            <a:endParaRPr spc="-10" dirty="0"/>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19</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182" y="1163350"/>
            <a:ext cx="10799618" cy="4915396"/>
          </a:xfrm>
          <a:prstGeom prst="rect">
            <a:avLst/>
          </a:prstGeom>
        </p:spPr>
      </p:pic>
    </p:spTree>
    <p:extLst>
      <p:ext uri="{BB962C8B-B14F-4D97-AF65-F5344CB8AC3E}">
        <p14:creationId xmlns:p14="http://schemas.microsoft.com/office/powerpoint/2010/main" val="1090826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Comparison with Existing System</a:t>
            </a:r>
            <a:endParaRPr spc="-10" dirty="0"/>
          </a:p>
        </p:txBody>
      </p:sp>
      <p:sp>
        <p:nvSpPr>
          <p:cNvPr id="6" name="object 6"/>
          <p:cNvSpPr txBox="1"/>
          <p:nvPr/>
        </p:nvSpPr>
        <p:spPr>
          <a:xfrm>
            <a:off x="851161" y="1055946"/>
            <a:ext cx="10360025" cy="4831707"/>
          </a:xfrm>
          <a:prstGeom prst="rect">
            <a:avLst/>
          </a:prstGeom>
        </p:spPr>
        <p:txBody>
          <a:bodyPr vert="horz" wrap="square" lIns="0" tIns="66675" rIns="0" bIns="0" rtlCol="0">
            <a:spAutoFit/>
          </a:bodyPr>
          <a:lstStyle/>
          <a:p>
            <a:pPr marL="12700" marR="5080" algn="just">
              <a:lnSpc>
                <a:spcPct val="90100"/>
              </a:lnSpc>
              <a:spcBef>
                <a:spcPts val="525"/>
              </a:spcBef>
            </a:pPr>
            <a:r>
              <a:rPr lang="en-IN" sz="4300" dirty="0" smtClean="0"/>
              <a:t>The experimental setup utilizes a Node.js runtime with Express.js APIs running on a multi-core server environment. Client requests are executed via React.js web interfaces. Data testing leverages PostgreSQL databases connected through </a:t>
            </a:r>
            <a:r>
              <a:rPr lang="en-IN" sz="4300" dirty="0" err="1" smtClean="0"/>
              <a:t>Prisma</a:t>
            </a:r>
            <a:r>
              <a:rPr lang="en-IN" sz="4300" dirty="0" smtClean="0"/>
              <a:t> ORM alongside </a:t>
            </a:r>
            <a:r>
              <a:rPr lang="en-IN" sz="4300" dirty="0" err="1" smtClean="0"/>
              <a:t>Redis</a:t>
            </a:r>
            <a:r>
              <a:rPr lang="en-IN" sz="4300" dirty="0" smtClean="0"/>
              <a:t> in-memory caching for concurrent load benchmarking. </a:t>
            </a:r>
            <a:endParaRPr sz="43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20</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4194563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Challenges and Solutions</a:t>
            </a:r>
            <a:endParaRPr spc="-10" dirty="0"/>
          </a:p>
        </p:txBody>
      </p:sp>
      <p:sp>
        <p:nvSpPr>
          <p:cNvPr id="6" name="object 6"/>
          <p:cNvSpPr txBox="1"/>
          <p:nvPr/>
        </p:nvSpPr>
        <p:spPr>
          <a:xfrm>
            <a:off x="851161" y="1055946"/>
            <a:ext cx="10360025" cy="5053306"/>
          </a:xfrm>
          <a:prstGeom prst="rect">
            <a:avLst/>
          </a:prstGeom>
        </p:spPr>
        <p:txBody>
          <a:bodyPr vert="horz" wrap="square" lIns="0" tIns="66675" rIns="0" bIns="0" rtlCol="0">
            <a:spAutoFit/>
          </a:bodyPr>
          <a:lstStyle/>
          <a:p>
            <a:pPr marL="12700" marR="5080" algn="just">
              <a:lnSpc>
                <a:spcPct val="90100"/>
              </a:lnSpc>
              <a:spcBef>
                <a:spcPts val="525"/>
              </a:spcBef>
            </a:pPr>
            <a:r>
              <a:rPr lang="en-US" sz="4500" dirty="0" smtClean="0">
                <a:latin typeface="Times New Roman" panose="02020603050405020304" pitchFamily="18" charset="0"/>
                <a:cs typeface="Times New Roman" panose="02020603050405020304" pitchFamily="18" charset="0"/>
              </a:rPr>
              <a:t>High concurrency during peak booking causes overbooking and database latency. The system resolves this using </a:t>
            </a:r>
            <a:r>
              <a:rPr lang="en-US" sz="4500" dirty="0" err="1" smtClean="0">
                <a:latin typeface="Times New Roman" panose="02020603050405020304" pitchFamily="18" charset="0"/>
                <a:cs typeface="Times New Roman" panose="02020603050405020304" pitchFamily="18" charset="0"/>
              </a:rPr>
              <a:t>Redis</a:t>
            </a:r>
            <a:r>
              <a:rPr lang="en-US" sz="4500" dirty="0" smtClean="0">
                <a:latin typeface="Times New Roman" panose="02020603050405020304" pitchFamily="18" charset="0"/>
                <a:cs typeface="Times New Roman" panose="02020603050405020304" pitchFamily="18" charset="0"/>
              </a:rPr>
              <a:t> in-memory caching for instant seat inventory locking, PostgreSQL with ACID compliance to prevent race conditions, and Socket.io for real-time seat availability updates across clients.</a:t>
            </a:r>
            <a:endParaRPr sz="45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21</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48914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Future Work</a:t>
            </a:r>
            <a:endParaRPr spc="-10" dirty="0"/>
          </a:p>
        </p:txBody>
      </p:sp>
      <p:sp>
        <p:nvSpPr>
          <p:cNvPr id="6" name="object 6"/>
          <p:cNvSpPr txBox="1"/>
          <p:nvPr/>
        </p:nvSpPr>
        <p:spPr>
          <a:xfrm>
            <a:off x="851161" y="1055946"/>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300" dirty="0" smtClean="0">
                <a:latin typeface="Times New Roman" panose="02020603050405020304" pitchFamily="18" charset="0"/>
                <a:cs typeface="Times New Roman" panose="02020603050405020304" pitchFamily="18" charset="0"/>
              </a:rPr>
              <a:t>Future work includes integrating AI-driven dynamic pricing, mobile app support, and automated seat allocation algorithms. Expanding </a:t>
            </a:r>
            <a:r>
              <a:rPr lang="en-US" sz="4300" dirty="0" err="1" smtClean="0">
                <a:latin typeface="Times New Roman" panose="02020603050405020304" pitchFamily="18" charset="0"/>
                <a:cs typeface="Times New Roman" panose="02020603050405020304" pitchFamily="18" charset="0"/>
              </a:rPr>
              <a:t>microservices</a:t>
            </a:r>
            <a:r>
              <a:rPr lang="en-US" sz="4300" dirty="0" smtClean="0">
                <a:latin typeface="Times New Roman" panose="02020603050405020304" pitchFamily="18" charset="0"/>
                <a:cs typeface="Times New Roman" panose="02020603050405020304" pitchFamily="18" charset="0"/>
              </a:rPr>
              <a:t> architecture, adding multi-modal transit connections, and incorporating </a:t>
            </a:r>
            <a:r>
              <a:rPr lang="en-US" sz="4300" dirty="0" err="1" smtClean="0">
                <a:latin typeface="Times New Roman" panose="02020603050405020304" pitchFamily="18" charset="0"/>
                <a:cs typeface="Times New Roman" panose="02020603050405020304" pitchFamily="18" charset="0"/>
              </a:rPr>
              <a:t>IoT</a:t>
            </a:r>
            <a:r>
              <a:rPr lang="en-US" sz="4300" dirty="0" smtClean="0">
                <a:latin typeface="Times New Roman" panose="02020603050405020304" pitchFamily="18" charset="0"/>
                <a:cs typeface="Times New Roman" panose="02020603050405020304" pitchFamily="18" charset="0"/>
              </a:rPr>
              <a:t>-based train tracking will further optimize operational scalability, passenger convenience, and real-time navigation during high-demand periods. </a:t>
            </a:r>
            <a:endParaRPr sz="43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22</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970053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22802" y="41109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Conclusion</a:t>
            </a:r>
            <a:endParaRPr spc="-10" dirty="0"/>
          </a:p>
        </p:txBody>
      </p:sp>
      <p:sp>
        <p:nvSpPr>
          <p:cNvPr id="6" name="object 6"/>
          <p:cNvSpPr txBox="1"/>
          <p:nvPr/>
        </p:nvSpPr>
        <p:spPr>
          <a:xfrm>
            <a:off x="851161" y="1055946"/>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IN" sz="4400" dirty="0" smtClean="0">
                <a:latin typeface="Times New Roman" panose="02020603050405020304" pitchFamily="18" charset="0"/>
                <a:cs typeface="Times New Roman" panose="02020603050405020304" pitchFamily="18" charset="0"/>
              </a:rPr>
              <a:t>The Railway Reservation System successfully modernizes train ticketing by eliminating manual inefficiencies through a secure, multi-tier digital platform. Utilizing React, Node.js, PostgreSQL, and </a:t>
            </a:r>
            <a:r>
              <a:rPr lang="en-IN" sz="4400" dirty="0" err="1" smtClean="0">
                <a:latin typeface="Times New Roman" panose="02020603050405020304" pitchFamily="18" charset="0"/>
                <a:cs typeface="Times New Roman" panose="02020603050405020304" pitchFamily="18" charset="0"/>
              </a:rPr>
              <a:t>Redis</a:t>
            </a:r>
            <a:r>
              <a:rPr lang="en-IN" sz="4400" dirty="0" smtClean="0">
                <a:latin typeface="Times New Roman" panose="02020603050405020304" pitchFamily="18" charset="0"/>
                <a:cs typeface="Times New Roman" panose="02020603050405020304" pitchFamily="18" charset="0"/>
              </a:rPr>
              <a:t> caching, it delivers real-time seat availability, high concurrency handling, ACID-compliant transactions, and enhanced passenger convenience.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23</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393771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22802" y="41109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References</a:t>
            </a:r>
            <a:endParaRPr spc="-10" dirty="0"/>
          </a:p>
        </p:txBody>
      </p:sp>
      <p:sp>
        <p:nvSpPr>
          <p:cNvPr id="6" name="object 6"/>
          <p:cNvSpPr txBox="1"/>
          <p:nvPr/>
        </p:nvSpPr>
        <p:spPr>
          <a:xfrm>
            <a:off x="851161" y="1055946"/>
            <a:ext cx="10360025" cy="5427255"/>
          </a:xfrm>
          <a:prstGeom prst="rect">
            <a:avLst/>
          </a:prstGeom>
        </p:spPr>
        <p:txBody>
          <a:bodyPr vert="horz" wrap="square" lIns="0" tIns="66675" rIns="0" bIns="0" rtlCol="0">
            <a:spAutoFit/>
          </a:bodyPr>
          <a:lstStyle/>
          <a:p>
            <a:pPr marL="12700" marR="5080" algn="just">
              <a:lnSpc>
                <a:spcPct val="90100"/>
              </a:lnSpc>
              <a:spcBef>
                <a:spcPts val="525"/>
              </a:spcBef>
            </a:pPr>
            <a:r>
              <a:rPr lang="en-IN" sz="4300" dirty="0" smtClean="0">
                <a:latin typeface="Times New Roman" panose="02020603050405020304" pitchFamily="18" charset="0"/>
                <a:cs typeface="Times New Roman" panose="02020603050405020304" pitchFamily="18" charset="0"/>
              </a:rPr>
              <a:t>References include MongoDB Mongoose ODM Documentation (2024), PostgreSQL 16 Documentation (2023), React User Interface Library Documentation by Facebook (2024), </a:t>
            </a:r>
            <a:r>
              <a:rPr lang="en-IN" sz="4300" dirty="0" err="1" smtClean="0">
                <a:latin typeface="Times New Roman" panose="02020603050405020304" pitchFamily="18" charset="0"/>
                <a:cs typeface="Times New Roman" panose="02020603050405020304" pitchFamily="18" charset="0"/>
              </a:rPr>
              <a:t>Redis</a:t>
            </a:r>
            <a:r>
              <a:rPr lang="en-IN" sz="4300" dirty="0" smtClean="0">
                <a:latin typeface="Times New Roman" panose="02020603050405020304" pitchFamily="18" charset="0"/>
                <a:cs typeface="Times New Roman" panose="02020603050405020304" pitchFamily="18" charset="0"/>
              </a:rPr>
              <a:t> In-Memory Data Store Architecture Documentation (2023), and Socket.io Real-Time Bidirectional Event-Based Communication Framework Documentation (2024).</a:t>
            </a: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24</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4216308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154</TotalTime>
  <Words>1762</Words>
  <Application>Microsoft Office PowerPoint</Application>
  <PresentationFormat>Widescreen</PresentationFormat>
  <Paragraphs>142</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Arial MT</vt:lpstr>
      <vt:lpstr>Calibri</vt:lpstr>
      <vt:lpstr>Times New Roman</vt:lpstr>
      <vt:lpstr>Office Theme</vt:lpstr>
      <vt:lpstr>RAILWAY RESERVATION SYSTEM</vt:lpstr>
      <vt:lpstr>Contents</vt:lpstr>
      <vt:lpstr>PowerPoint Presentation</vt:lpstr>
      <vt:lpstr>PowerPoint Presentation</vt:lpstr>
      <vt:lpstr>Abstract</vt:lpstr>
      <vt:lpstr>Problem Statement</vt:lpstr>
      <vt:lpstr>Motivation</vt:lpstr>
      <vt:lpstr>Objectives</vt:lpstr>
      <vt:lpstr>Literature Survey</vt:lpstr>
      <vt:lpstr>Research Gap</vt:lpstr>
      <vt:lpstr>Proposed Methodology</vt:lpstr>
      <vt:lpstr>System Architecture</vt:lpstr>
      <vt:lpstr>Technologies Used</vt:lpstr>
      <vt:lpstr>Dataset / Input Details</vt:lpstr>
      <vt:lpstr>Implementation </vt:lpstr>
      <vt:lpstr>Experimental Setup</vt:lpstr>
      <vt:lpstr>Results</vt:lpstr>
      <vt:lpstr>Performance Evaluation</vt:lpstr>
      <vt:lpstr>Screenshots / Working Demo</vt:lpstr>
      <vt:lpstr>Comparison with Existing System</vt:lpstr>
      <vt:lpstr>Challenges and Solutions</vt:lpstr>
      <vt:lpstr>Future Work</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Sairohit</cp:lastModifiedBy>
  <cp:revision>14</cp:revision>
  <dcterms:created xsi:type="dcterms:W3CDTF">2026-09-12T04:48:42Z</dcterms:created>
  <dcterms:modified xsi:type="dcterms:W3CDTF">2026-09-23T06:53:04Z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2026-08-26T00:00:00Z</vt:filetime>
  </property>
  <property fmtid="{D5CDD505-2E9C-101B-9397-08002B2CF9AE}" pid="4" name="Creator">
    <vt:lpwstr>Microsoft® PowerPoint® 2019</vt:lpwstr>
  </property>
  <property fmtid="{D5CDD505-2E9C-101B-9397-08002B2CF9AE}" pid="5" name="LastSaved">
    <vt:filetime>2026-09-12T00:00:00Z</vt:filetime>
  </property>
  <property fmtid="{D5CDD505-2E9C-101B-9397-08002B2CF9AE}" pid="6" name="Producer">
    <vt:lpwstr>Adobe PDF Services</vt:lpwstr>
  </property>
</Properties>
</file>