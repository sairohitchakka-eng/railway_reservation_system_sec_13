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ologica SemiBold" panose="020B0604020202020204" charset="0"/>
      <p:regular r:id="rId13"/>
    </p:embeddedFont>
    <p:embeddedFont>
      <p:font typeface="Geologica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eologica Bold" panose="020B0604020202020204" charset="0"/>
      <p:regular r:id="rId19"/>
    </p:embeddedFont>
    <p:embeddedFont>
      <p:font typeface="Oxanium Medium" panose="020B0604020202020204" charset="0"/>
      <p:regular r:id="rId20"/>
    </p:embeddedFont>
    <p:embeddedFont>
      <p:font typeface="Geologica Medium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57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106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302837"/>
            <a:ext cx="7315017" cy="2593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7400" kern="100" spc="-222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RAILWAY</a:t>
            </a:r>
            <a:endParaRPr lang="en-US" sz="7400" dirty="0"/>
          </a:p>
          <a:p>
            <a:pPr marL="0" indent="0" algn="l">
              <a:lnSpc>
                <a:spcPct val="77000"/>
              </a:lnSpc>
              <a:buNone/>
            </a:pPr>
            <a:r>
              <a:rPr lang="en-US" sz="7400" kern="100" spc="-222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RESERVATION</a:t>
            </a:r>
            <a:endParaRPr lang="en-US" sz="7400" dirty="0"/>
          </a:p>
          <a:p>
            <a:pPr marL="0" indent="0" algn="l">
              <a:lnSpc>
                <a:spcPct val="77000"/>
              </a:lnSpc>
              <a:buNone/>
            </a:pPr>
            <a:r>
              <a:rPr lang="en-US" sz="7400" kern="100" spc="-222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SYSTEM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09585" y="6042727"/>
            <a:ext cx="7924602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Review 2 · proposed project scope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62990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PROJECT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5689458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Reservation quality shapes the whole journey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4872930"/>
            <a:ext cx="5689458" cy="987425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4872930"/>
            <a:ext cx="19050" cy="987425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6" name="Text 4"/>
          <p:cNvSpPr/>
          <p:nvPr/>
        </p:nvSpPr>
        <p:spPr>
          <a:xfrm>
            <a:off x="908027" y="5109150"/>
            <a:ext cx="5111622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Make finding trains, checking seats, and completing a booking dependable.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6042727"/>
            <a:ext cx="6299042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 proposed system, not a report of local implementation or results.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LITERATURE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literature spans booking, architecture, and queues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405936"/>
            <a:ext cx="1097252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Review three concerns: passenger transaction flow, platform reliability, and capacity under demand.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897" y="2841228"/>
            <a:ext cx="5683802" cy="3047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76708" y="3106000"/>
            <a:ext cx="2626813" cy="15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050" kern="100" spc="-19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Railway reservation service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543347" y="4613282"/>
            <a:ext cx="1279778" cy="31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050" kern="100" spc="-19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Passenger transaction flow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543347" y="5010440"/>
            <a:ext cx="1279778" cy="37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Booking steps overview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301" y="4148510"/>
            <a:ext cx="284185" cy="284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8751" y="4879949"/>
            <a:ext cx="1279778" cy="15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050" kern="100" spc="-19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Platform reliability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58751" y="5118906"/>
            <a:ext cx="1279778" cy="371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Concurrent access and security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705" y="4341761"/>
            <a:ext cx="284185" cy="2841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74155" y="4509019"/>
            <a:ext cx="1279778" cy="31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050" kern="100" spc="-19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Capacity under demand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7374155" y="4906177"/>
            <a:ext cx="1279778" cy="557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Waiting, overbooking, channels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110" y="4125775"/>
            <a:ext cx="284184" cy="2841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585" y="5973076"/>
            <a:ext cx="11582110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Review rubric: depth · synthesis · evidence-based gap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PUBLISHED FINDING · SHAN ET AL. (2023)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E-ticketing research prioritizes scale and secure access</a:t>
            </a:r>
            <a:endParaRPr lang="en-US" sz="5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430066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059986"/>
            <a:ext cx="2514537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Database synchronization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726799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Keep ticket and seat state aligned.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14" y="2430066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8914" y="3059986"/>
            <a:ext cx="251453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High concurrency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28914" y="3461687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Support access as demand rises.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430066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48244" y="3059986"/>
            <a:ext cx="251453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Dynamic QR codes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248244" y="3461687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Strengthen ticket validation.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2430066"/>
            <a:ext cx="507987" cy="508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67573" y="3059986"/>
            <a:ext cx="2514537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Two-factor authentication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067573" y="3726799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Protect secure passenger access.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09585" y="5663208"/>
            <a:ext cx="10972526" cy="585192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17" name="Shape 11"/>
          <p:cNvSpPr/>
          <p:nvPr/>
        </p:nvSpPr>
        <p:spPr>
          <a:xfrm>
            <a:off x="609585" y="5663208"/>
            <a:ext cx="19050" cy="585192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8" name="Text 12"/>
          <p:cNvSpPr/>
          <p:nvPr/>
        </p:nvSpPr>
        <p:spPr>
          <a:xfrm>
            <a:off x="857229" y="5816941"/>
            <a:ext cx="1072488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Design implication.</a:t>
            </a: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Protect consistent seat and ticket state as demand rises.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PUBLISHED FINDING · QASIM AND FAROOQUIE (2024)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Queue research exposes the cost of capacity choices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430066"/>
            <a:ext cx="6045049" cy="3818334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2742486"/>
            <a:ext cx="56894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CASE LENS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176" y="3048000"/>
            <a:ext cx="533386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500" kern="100" spc="-63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Indian Railways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65176" y="3677190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Secondary queues, overbooking, and passenger flow reveal where capacity decisions become service costs.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59327" y="2430066"/>
            <a:ext cx="38099" cy="3818334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9" name="Text 7"/>
          <p:cNvSpPr/>
          <p:nvPr/>
        </p:nvSpPr>
        <p:spPr>
          <a:xfrm>
            <a:off x="7353017" y="2742486"/>
            <a:ext cx="422909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53017" y="3051969"/>
            <a:ext cx="3873502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5000" kern="100" spc="-150" dirty="0">
                <a:solidFill>
                  <a:srgbClr val="F2F7F6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WAIT CAPACITY</a:t>
            </a:r>
            <a:endParaRPr lang="en-US" sz="5000" dirty="0"/>
          </a:p>
          <a:p>
            <a:pPr marL="0" indent="0" algn="l">
              <a:lnSpc>
                <a:spcPct val="77000"/>
              </a:lnSpc>
              <a:buNone/>
            </a:pPr>
            <a:r>
              <a:rPr lang="en-US" sz="5000" kern="100" spc="-150" dirty="0">
                <a:solidFill>
                  <a:srgbClr val="F2F7F6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VERSUS LOSS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353017" y="4963065"/>
            <a:ext cx="3873502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Extra service channels may reduce waiting, while overbooking can create revenue loss and passenger friction.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studies solve different parts of one service</a:t>
            </a:r>
            <a:endParaRPr lang="en-US" sz="5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17366"/>
          <a:ext cx="10972525" cy="3336246"/>
        </p:xfrm>
        <a:graphic>
          <a:graphicData uri="http://schemas.openxmlformats.org/drawingml/2006/table">
            <a:tbl>
              <a:tblPr/>
              <a:tblGrid>
                <a:gridCol w="241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128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LENS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128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PRIMARY QUESTION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128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WHAT IT PROTECTS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128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PROJECT RELEVANCE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Architecture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Can the platform handle concurrent access?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Consistent transaction state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Reliable booking core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Security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Can access and tickets be trusted?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Passenger and ticket integrity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Secure access requirements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Queueing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How does demand affect waiting?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Capacity and service flow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Peak-demand handling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Synthesis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What must work together?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Integrity plus capacity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 dependable journey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099" cy="6858000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3" name="Text 1"/>
          <p:cNvSpPr/>
          <p:nvPr/>
        </p:nvSpPr>
        <p:spPr>
          <a:xfrm>
            <a:off x="647684" y="2183090"/>
            <a:ext cx="115440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PROJECT-SPECIFIC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7684" y="2492574"/>
            <a:ext cx="109344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5000" kern="100" spc="-150" dirty="0">
                <a:solidFill>
                  <a:srgbClr val="F2F7F6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THE PROJECT CAN TEST THE INTEGRATION GAP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7684" y="3806706"/>
            <a:ext cx="10934426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Architecture and security, queue economics, booking usability, and peak-demand handling are proposed as one evaluation scope.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7684" y="4476758"/>
            <a:ext cx="1154401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This is a gap to validate in the project, not a claim that no prior work exists.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REVIEW 2 · PROVISIONAL AIM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Review 2 proposes a dependable booking workflow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430066"/>
            <a:ext cx="357476" cy="357485"/>
          </a:xfrm>
          <a:prstGeom prst="ellipse">
            <a:avLst/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083" y="2507159"/>
            <a:ext cx="8400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2877213"/>
            <a:ext cx="5333867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Search trains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585" y="3364651"/>
            <a:ext cx="533386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Give passengers a clear starting point.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2430066"/>
            <a:ext cx="382578" cy="382587"/>
          </a:xfrm>
          <a:prstGeom prst="ellipse">
            <a:avLst/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1742" y="2519759"/>
            <a:ext cx="8651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244" y="2902315"/>
            <a:ext cx="5333867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Check availability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48244" y="3389753"/>
            <a:ext cx="533386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Expose current seat state.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5" y="4110137"/>
            <a:ext cx="384562" cy="384572"/>
          </a:xfrm>
          <a:prstGeom prst="ellipse">
            <a:avLst/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083" y="4200823"/>
            <a:ext cx="8671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585" y="4584371"/>
            <a:ext cx="5333867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Confirm booking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9585" y="5071809"/>
            <a:ext cx="533386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Complete the reservation reliably.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244" y="4110137"/>
            <a:ext cx="390218" cy="390227"/>
          </a:xfrm>
          <a:prstGeom prst="ellipse">
            <a:avLst/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1742" y="4203601"/>
            <a:ext cx="87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244" y="4590026"/>
            <a:ext cx="5333867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Look up status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48244" y="5077464"/>
            <a:ext cx="533386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Keep the journey traceable.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585" y="5663208"/>
            <a:ext cx="10972526" cy="585192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5663208"/>
            <a:ext cx="19050" cy="585192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29" y="5816941"/>
            <a:ext cx="1072488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Scope to confirm.</a:t>
            </a: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Project context, railway setting, and available evaluation data with the supervisor.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PROPOSED DESIGN · NOT COMPLETED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6908627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Separate the passenger journey from core services</a:t>
            </a:r>
            <a:endParaRPr lang="en-US" sz="5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96" y="3065066"/>
            <a:ext cx="6075905" cy="317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95918" y="5247329"/>
            <a:ext cx="2717634" cy="326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Passenger journey left-to-right through core services.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EVALUATION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Evaluate function, load, and usability separately</a:t>
            </a:r>
            <a:endParaRPr lang="en-US" sz="5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417366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110786"/>
            <a:ext cx="342891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Function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512487"/>
            <a:ext cx="342891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Search, seat availability, booking, and status updates.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2417366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5688" y="3110786"/>
            <a:ext cx="320032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Load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495688" y="3512487"/>
            <a:ext cx="320032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Concurrent requests and consistent seat allocation.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2417366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196" y="3110786"/>
            <a:ext cx="342891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Usability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153196" y="3512487"/>
            <a:ext cx="342891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Task completion and user feedback.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09585" y="4249738"/>
            <a:ext cx="10972526" cy="585192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14" name="Shape 9"/>
          <p:cNvSpPr/>
          <p:nvPr/>
        </p:nvSpPr>
        <p:spPr>
          <a:xfrm>
            <a:off x="609585" y="4249738"/>
            <a:ext cx="19050" cy="585192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5" name="Text 10"/>
          <p:cNvSpPr/>
          <p:nvPr/>
        </p:nvSpPr>
        <p:spPr>
          <a:xfrm>
            <a:off x="857229" y="4403471"/>
            <a:ext cx="1072488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Reporting rule.</a:t>
            </a: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Actual results are reported only after testing.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260743" y="2417366"/>
            <a:ext cx="12700" cy="1654572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7918252" y="2417366"/>
            <a:ext cx="12700" cy="1654572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493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Geologica SemiBold</vt:lpstr>
      <vt:lpstr>Geologica</vt:lpstr>
      <vt:lpstr>Calibri</vt:lpstr>
      <vt:lpstr>Geologica Bold</vt:lpstr>
      <vt:lpstr>Oxanium Medium</vt:lpstr>
      <vt:lpstr>Geologica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TheoremLogic NumericLogorithm</dc:creator>
  <cp:lastModifiedBy>Sairohit</cp:lastModifiedBy>
  <cp:revision>3</cp:revision>
  <dcterms:created xsi:type="dcterms:W3CDTF">2026-10-08T04:33:17Z</dcterms:created>
  <dcterms:modified xsi:type="dcterms:W3CDTF">2026-10-08T04:41:06Z</dcterms:modified>
</cp:coreProperties>
</file>